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cf6aa12-b115-d6ce-2a9b-15395fa2041e}">
          <p14:sldIdLst>
            <p14:sldId id="256"/>
          </p14:sldIdLst>
        </p14:section>
        <p14:section name="목차" id="{5ffe56bd-3d88-d459-8d5c-1f0f0a6c5c37}">
          <p14:sldIdLst>
            <p14:sldId id="257"/>
          </p14:sldIdLst>
        </p14:section>
        <p14:section name="시작하기" id="{4f6118d8-add6-a640-8f69-2687d36b8a0a}">
          <p14:sldIdLst>
            <p14:sldId id="258"/>
            <p14:sldId id="259"/>
          </p14:sldIdLst>
        </p14:section>
        <p14:section name="영상 찾기" id="{b1ae1e03-05b2-b486-1bf4-870d542eb7b7}">
          <p14:sldIdLst>
            <p14:sldId id="260"/>
            <p14:sldId id="261"/>
            <p14:sldId id="262"/>
            <p14:sldId id="263"/>
            <p14:sldId id="264"/>
          </p14:sldIdLst>
        </p14:section>
        <p14:section name="영상 보기" id="{95fe94fc-4275-4be0-7a3e-700f5d79e723}">
          <p14:sldIdLst>
            <p14:sldId id="265"/>
            <p14:sldId id="266"/>
            <p14:sldId id="267"/>
            <p14:sldId id="268"/>
            <p14:sldId id="269"/>
          </p14:sldIdLst>
        </p14:section>
        <p14:section name="듣기 · 쇼츠 모드" id="{351e93da-8a87-1414-4e02-fc7d25d5d67b}">
          <p14:sldIdLst>
            <p14:sldId id="270"/>
            <p14:sldId id="271"/>
          </p14:sldIdLst>
        </p14:section>
        <p14:section name="대기열 · 재생목록" id="{51063a47-5027-fb7e-2e39-37c5da61fc74}">
          <p14:sldIdLst>
            <p14:sldId id="272"/>
          </p14:sldIdLst>
        </p14:section>
        <p14:section name="설정과 문제 해결" id="{f718f5ff-74cf-97e8-d07e-f001a08778af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MyTube는 맥에서 유튜브를 보기 위한 앱입니다. 이 가이드는 설치부터 영상 찾기, 보기, 듣기 모드, 쇼츠, 설정까지 화면을 보며 차례로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설치는 pkg 파일 더블클릭으로 끝납니다. 영상 정보를 받는 yt-dlp, 암호 풀이용 deno, 영상·소리 합치기용 ffmpeg가 필요합니다. 로그인은 앱 안의 로그인 창에서 구글 계정으로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852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4800" b="1" dirty="0">
                <a:solidFill>
                  <a:schemeClr val="bg1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000" dirty="0">
                <a:solidFill>
                  <a:srgbClr val="D7DAE0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1300" b="1" dirty="0">
                <a:solidFill>
                  <a:schemeClr val="accent1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0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MyTube 사용 가이드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MyTube 사용 가이드</a:t>
            </a:r>
            <a:endParaRPr lang="ko-KR" alt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000" dirty="0">
                <a:solidFill>
                  <a:srgbClr val="D7DAE0"/>
                </a:solidFill>
              </a:rPr>
              <a:t>맥에서 유튜브를 더 편하게 보는 방법</a:t>
            </a:r>
            <a:endParaRPr lang="ko-KR" altLang="en-US" sz="2000" dirty="0"/>
          </a:p>
          <a:p>
            <a:pPr eaLnBrk="0" indent="0" marL="0">
              <a:buNone/>
            </a:pPr>
            <a:r>
              <a:rPr lang="ko-KR" altLang="en-US" sz="2000" dirty="0">
                <a:solidFill>
                  <a:srgbClr val="D7DAE0"/>
                </a:solidFill>
              </a:rPr>
              <a:t>처음 쓰는 분도 따라 할 수 있게 화면마다 설명해요</a:t>
            </a:r>
            <a:endParaRPr lang="ko-KR" altLang="en-US" sz="2000" dirty="0"/>
          </a:p>
        </p:txBody>
      </p:sp>
      <p:pic>
        <p:nvPicPr>
          <p:cNvPr id="4" name="앱 아이콘" descr="/private/tmp/claude-501/-Volumes------App-Mac-YouTube/7995ba32-4d36-42c2-bba4-6b9cacc70a97/scratchpad/img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8580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rgbClr val="9AA1AC"/>
                </a:solidFill>
              </a:rPr>
              <a:t>버전 1.58 · 2026년 10월</a:t>
            </a:r>
            <a:endParaRPr lang="ko-KR" altLang="en-US" sz="1300" dirty="0"/>
          </a:p>
        </p:txBody>
      </p:sp>
      <p:pic>
        <p:nvPicPr>
          <p:cNvPr id="6" name="홈 화면" descr="/private/tmp/claude-501/-Volumes------App-Mac-YouTube/7995ba32-4d36-42c2-bba4-6b9cacc70a97/scratchpad/img/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43000"/>
            <a:ext cx="5120640" cy="3200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7" name="듣기 창" descr="/private/tmp/claude-501/-Volumes------App-Mac-YouTube/7995ba32-4d36-42c2-bba4-6b9cacc70a97/scratchpad/img/listen-smal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977640"/>
            <a:ext cx="2743200" cy="151790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이 가이드에서 배우는 것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목차</a:t>
            </a:r>
            <a:endParaRPr lang="ko-KR" altLang="en-US" sz="3000" dirty="0"/>
          </a:p>
        </p:txBody>
      </p:sp>
      <p:sp>
        <p:nvSpPr>
          <p:cNvPr id="4" name="목차 카드 1"/>
          <p:cNvSpPr/>
          <p:nvPr/>
        </p:nvSpPr>
        <p:spPr>
          <a:xfrm>
            <a:off x="548640" y="150876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목차 아이콘 바탕 1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목차 아이콘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385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918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D1D5DB"/>
                </a:solidFill>
              </a:rPr>
              <a:t>1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시작하기</a:t>
            </a:r>
            <a:endParaRPr lang="ko-KR" altLang="en-US" sz="20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4B5563"/>
                </a:solidFill>
              </a:rPr>
              <a:t>설치하고 유튜브에 로그인하기, 화면 한눈에 보기</a:t>
            </a:r>
            <a:endParaRPr lang="ko-KR" altLang="en-US" sz="2000" dirty="0"/>
          </a:p>
        </p:txBody>
      </p:sp>
      <p:sp>
        <p:nvSpPr>
          <p:cNvPr id="9" name="목차 카드 2"/>
          <p:cNvSpPr/>
          <p:nvPr/>
        </p:nvSpPr>
        <p:spPr>
          <a:xfrm>
            <a:off x="4297680" y="150876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목차 아이콘 바탕 2"/>
          <p:cNvSpPr/>
          <p:nvPr/>
        </p:nvSpPr>
        <p:spPr>
          <a:xfrm>
            <a:off x="4572000" y="17830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목차 아이콘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385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D1D5DB"/>
                </a:solidFill>
              </a:rPr>
              <a:t>2</a:t>
            </a:r>
            <a:endParaRPr lang="ko-KR" alt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영상 찾기</a:t>
            </a:r>
            <a:endParaRPr lang="ko-KR" altLang="en-US" sz="20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4B5563"/>
                </a:solidFill>
              </a:rPr>
              <a:t>왼쪽 메뉴, 검색 3가지, 필터, 탭 쓰는 법</a:t>
            </a:r>
            <a:endParaRPr lang="ko-KR" altLang="en-US" sz="2000" dirty="0"/>
          </a:p>
        </p:txBody>
      </p:sp>
      <p:sp>
        <p:nvSpPr>
          <p:cNvPr id="14" name="목차 카드 3"/>
          <p:cNvSpPr/>
          <p:nvPr/>
        </p:nvSpPr>
        <p:spPr>
          <a:xfrm>
            <a:off x="8046720" y="150876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목차 아이콘 바탕 3"/>
          <p:cNvSpPr/>
          <p:nvPr/>
        </p:nvSpPr>
        <p:spPr>
          <a:xfrm>
            <a:off x="8321040" y="17830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목차 아이콘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9385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78992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D1D5DB"/>
                </a:solidFill>
              </a:rPr>
              <a:t>3</a:t>
            </a:r>
            <a:endParaRPr lang="ko-KR" alt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영상 보기</a:t>
            </a:r>
            <a:endParaRPr lang="ko-KR" altLang="en-US" sz="20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4B5563"/>
                </a:solidFill>
              </a:rPr>
              <a:t>재생 창 단추, 단축키, 댓글, AI 질문하기</a:t>
            </a:r>
            <a:endParaRPr lang="ko-KR" altLang="en-US" sz="2000" dirty="0"/>
          </a:p>
        </p:txBody>
      </p:sp>
      <p:sp>
        <p:nvSpPr>
          <p:cNvPr id="19" name="목차 카드 4"/>
          <p:cNvSpPr/>
          <p:nvPr/>
        </p:nvSpPr>
        <p:spPr>
          <a:xfrm>
            <a:off x="548640" y="388620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목차 아이콘 바탕 4"/>
          <p:cNvSpPr/>
          <p:nvPr/>
        </p:nvSpPr>
        <p:spPr>
          <a:xfrm>
            <a:off x="822960" y="41605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목차 아이콘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31596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29184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D1D5DB"/>
                </a:solidFill>
              </a:rPr>
              <a:t>4</a:t>
            </a:r>
            <a:endParaRPr lang="ko-KR" alt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듣기 · 쇼츠 모드</a:t>
            </a:r>
            <a:endParaRPr lang="ko-KR" altLang="en-US" sz="20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4B5563"/>
                </a:solidFill>
              </a:rPr>
              <a:t>화면 없이 소리만 듣기, 쇼츠만 세로로 보기</a:t>
            </a:r>
            <a:endParaRPr lang="ko-KR" altLang="en-US" sz="2000" dirty="0"/>
          </a:p>
        </p:txBody>
      </p:sp>
      <p:sp>
        <p:nvSpPr>
          <p:cNvPr id="24" name="목차 카드 5"/>
          <p:cNvSpPr/>
          <p:nvPr/>
        </p:nvSpPr>
        <p:spPr>
          <a:xfrm>
            <a:off x="4297680" y="388620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목차 아이콘 바탕 5"/>
          <p:cNvSpPr/>
          <p:nvPr/>
        </p:nvSpPr>
        <p:spPr>
          <a:xfrm>
            <a:off x="4572000" y="41605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목차 아이콘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31596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4088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D1D5DB"/>
                </a:solidFill>
              </a:rPr>
              <a:t>5</a:t>
            </a:r>
            <a:endParaRPr lang="ko-KR" altLang="en-US" sz="28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37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대기열 · 재생목록</a:t>
            </a:r>
            <a:endParaRPr lang="ko-KR" altLang="en-US" sz="20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4B5563"/>
                </a:solidFill>
              </a:rPr>
              <a:t>여러 영상을 차례로 이어서 보기</a:t>
            </a:r>
            <a:endParaRPr lang="ko-KR" altLang="en-US" sz="2000" dirty="0"/>
          </a:p>
        </p:txBody>
      </p:sp>
      <p:sp>
        <p:nvSpPr>
          <p:cNvPr id="29" name="목차 카드 6"/>
          <p:cNvSpPr/>
          <p:nvPr/>
        </p:nvSpPr>
        <p:spPr>
          <a:xfrm>
            <a:off x="8046720" y="388620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목차 아이콘 바탕 6"/>
          <p:cNvSpPr/>
          <p:nvPr/>
        </p:nvSpPr>
        <p:spPr>
          <a:xfrm>
            <a:off x="8321040" y="41605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목차 아이콘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31596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78992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D1D5DB"/>
                </a:solidFill>
              </a:rPr>
              <a:t>6</a:t>
            </a:r>
            <a:endParaRPr lang="ko-KR" altLang="en-US" sz="28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37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설정과 문제 해결</a:t>
            </a:r>
            <a:endParaRPr lang="ko-KR" altLang="en-US" sz="20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4B5563"/>
                </a:solidFill>
              </a:rPr>
              <a:t>계정·테마·광고 건너뛰기, 자주 묻는 문제</a:t>
            </a:r>
            <a:endParaRPr lang="ko-KR" alt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1 · 시작하기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설치하고 처음 켜기</a:t>
            </a:r>
            <a:endParaRPr lang="ko-KR" altLang="en-US" sz="3000" dirty="0"/>
          </a:p>
        </p:txBody>
      </p:sp>
      <p:sp>
        <p:nvSpPr>
          <p:cNvPr id="4" name="설명 번호 1"/>
          <p:cNvSpPr/>
          <p:nvPr/>
        </p:nvSpPr>
        <p:spPr>
          <a:xfrm>
            <a:off x="548640" y="15727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17904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설치 파일 열기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구글 드라이브 'MyTube 배포판' 폴더의 MyTube-버전.pkg를 더블클릭 → 계속을 누르면 응용 프로그램에 설치되고 바로 켜져요</a:t>
            </a:r>
            <a:endParaRPr lang="ko-KR" altLang="en-US" sz="1500" dirty="0"/>
          </a:p>
        </p:txBody>
      </p:sp>
      <p:sp>
        <p:nvSpPr>
          <p:cNvPr id="7" name="설명 번호 2"/>
          <p:cNvSpPr/>
          <p:nvPr/>
        </p:nvSpPr>
        <p:spPr>
          <a:xfrm>
            <a:off x="548640" y="27157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60904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경고가 뜨면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'확인되지 않은 개발자' 창이 나오면 파일을 오른쪽 클릭 → 열기를 누르세요 (처음 한 번만)</a:t>
            </a:r>
            <a:endParaRPr lang="ko-KR" altLang="en-US" sz="1500" dirty="0"/>
          </a:p>
        </p:txBody>
      </p:sp>
      <p:sp>
        <p:nvSpPr>
          <p:cNvPr id="10" name="설명 번호 3"/>
          <p:cNvSpPr/>
          <p:nvPr/>
        </p:nvSpPr>
        <p:spPr>
          <a:xfrm>
            <a:off x="548640" y="38587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803904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필요한 도구 설치 (한 번만)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터미널을 열고 오른쪽 명령을 붙여 넣어 실행하세요. 영상 목록·재생에 꼭 필요해요</a:t>
            </a:r>
            <a:endParaRPr lang="ko-KR" altLang="en-US" sz="1500" dirty="0"/>
          </a:p>
        </p:txBody>
      </p:sp>
      <p:sp>
        <p:nvSpPr>
          <p:cNvPr id="13" name="설명 번호 4"/>
          <p:cNvSpPr/>
          <p:nvPr/>
        </p:nvSpPr>
        <p:spPr>
          <a:xfrm>
            <a:off x="548640" y="50017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946904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유튜브 로그인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처음 켜면 로그인 창이 떠요. 구글 계정으로 로그인하면 홈·구독·기록이 보여요</a:t>
            </a:r>
            <a:endParaRPr lang="ko-KR" altLang="en-US" sz="1500" dirty="0"/>
          </a:p>
        </p:txBody>
      </p:sp>
      <p:sp>
        <p:nvSpPr>
          <p:cNvPr id="16" name="명령 상자"/>
          <p:cNvSpPr/>
          <p:nvPr/>
        </p:nvSpPr>
        <p:spPr>
          <a:xfrm>
            <a:off x="7315200" y="1554480"/>
            <a:ext cx="4343400" cy="2057400"/>
          </a:xfrm>
          <a:prstGeom prst="roundRect">
            <a:avLst>
              <a:gd name="adj" fmla="val 6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터미널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783080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046720" y="1764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터미널에 붙여 넣기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rgbClr val="FFD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yt-dlp deno ffmpeg</a:t>
            </a:r>
            <a:endParaRPr lang="ko-KR" alt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rgbClr val="C9CDD4"/>
                </a:solidFill>
              </a:rPr>
              <a:t>Homebrew가 없으면 brew.sh에서 먼저 설치해요</a:t>
            </a:r>
            <a:endParaRPr lang="ko-KR" altLang="en-US" sz="1300" dirty="0"/>
          </a:p>
        </p:txBody>
      </p:sp>
      <p:sp>
        <p:nvSpPr>
          <p:cNvPr id="21" name="도움말 상자"/>
          <p:cNvSpPr/>
          <p:nvPr/>
        </p:nvSpPr>
        <p:spPr>
          <a:xfrm>
            <a:off x="7315200" y="3886200"/>
            <a:ext cx="4343400" cy="2240280"/>
          </a:xfrm>
          <a:prstGeom prst="roundRect">
            <a:avLst>
              <a:gd name="adj" fmla="val 4898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22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06908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909560" y="4014216"/>
            <a:ext cx="356616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도구가 없으면 앱이 알려 줘요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목록 자리에 '필요한 도구가 없어요'와 명령 복사 단추가 나와요. 설정 → 유튜브 계정에서도 도구가 다 있는지 볼 수 있어요.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1 · 시작하기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화면 한눈에 보기</a:t>
            </a:r>
            <a:endParaRPr lang="ko-KR" altLang="en-US" sz="3000" dirty="0"/>
          </a:p>
        </p:txBody>
      </p:sp>
      <p:sp>
        <p:nvSpPr>
          <p:cNvPr id="4" name="홈 화면 판"/>
          <p:cNvSpPr/>
          <p:nvPr/>
        </p:nvSpPr>
        <p:spPr>
          <a:xfrm>
            <a:off x="475488" y="1367028"/>
            <a:ext cx="7827264" cy="4946904"/>
          </a:xfrm>
          <a:prstGeom prst="roundRect">
            <a:avLst>
              <a:gd name="adj" fmla="val 2588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홈 화면" descr="홈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0180"/>
            <a:ext cx="7680960" cy="4800600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567214" y="173478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67214" y="1734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1047274" y="24368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47274" y="24368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2052399" y="143775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052399" y="14377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4617720" y="143775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17720" y="14377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표시 5"/>
          <p:cNvSpPr/>
          <p:nvPr/>
        </p:nvSpPr>
        <p:spPr>
          <a:xfrm>
            <a:off x="3081528" y="170478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081528" y="1704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6" name="표시 6"/>
          <p:cNvSpPr/>
          <p:nvPr/>
        </p:nvSpPr>
        <p:spPr>
          <a:xfrm>
            <a:off x="2889504" y="193881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889504" y="19388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6</a:t>
            </a:r>
            <a:endParaRPr lang="ko-KR" altLang="en-US" sz="1300" dirty="0"/>
          </a:p>
        </p:txBody>
      </p:sp>
      <p:sp>
        <p:nvSpPr>
          <p:cNvPr id="18" name="표시 7"/>
          <p:cNvSpPr/>
          <p:nvPr/>
        </p:nvSpPr>
        <p:spPr>
          <a:xfrm>
            <a:off x="7843123" y="193881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843123" y="19388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7</a:t>
            </a:r>
            <a:endParaRPr lang="ko-KR" altLang="en-US" sz="1300" dirty="0"/>
          </a:p>
        </p:txBody>
      </p:sp>
      <p:sp>
        <p:nvSpPr>
          <p:cNvPr id="20" name="표시 8"/>
          <p:cNvSpPr/>
          <p:nvPr/>
        </p:nvSpPr>
        <p:spPr>
          <a:xfrm>
            <a:off x="2370439" y="251488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370439" y="2514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8</a:t>
            </a:r>
            <a:endParaRPr lang="ko-KR" altLang="en-US" sz="1300" dirty="0"/>
          </a:p>
        </p:txBody>
      </p:sp>
      <p:sp>
        <p:nvSpPr>
          <p:cNvPr id="22" name="표시 9"/>
          <p:cNvSpPr/>
          <p:nvPr/>
        </p:nvSpPr>
        <p:spPr>
          <a:xfrm>
            <a:off x="1008269" y="593231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1008269" y="59323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9</a:t>
            </a:r>
            <a:endParaRPr lang="ko-KR" altLang="en-US" sz="1300" dirty="0"/>
          </a:p>
        </p:txBody>
      </p:sp>
      <p:sp>
        <p:nvSpPr>
          <p:cNvPr id="24" name="설명 번호 1"/>
          <p:cNvSpPr/>
          <p:nvPr/>
        </p:nvSpPr>
        <p:spPr>
          <a:xfrm>
            <a:off x="8549640" y="14356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4964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0" y="1380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내 유튜브 계정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로그인한 계정 사진·이름</a:t>
            </a:r>
            <a:endParaRPr lang="ko-KR" altLang="en-US" sz="1400" dirty="0"/>
          </a:p>
        </p:txBody>
      </p:sp>
      <p:sp>
        <p:nvSpPr>
          <p:cNvPr id="27" name="설명 번호 2"/>
          <p:cNvSpPr/>
          <p:nvPr/>
        </p:nvSpPr>
        <p:spPr>
          <a:xfrm>
            <a:off x="8549640" y="19842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4964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961120" y="19293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왼쪽 메뉴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홈·구독·기록 같은 목록 고르기</a:t>
            </a:r>
            <a:endParaRPr lang="ko-KR" altLang="en-US" sz="1400" dirty="0"/>
          </a:p>
        </p:txBody>
      </p:sp>
      <p:sp>
        <p:nvSpPr>
          <p:cNvPr id="30" name="설명 번호 3"/>
          <p:cNvSpPr/>
          <p:nvPr/>
        </p:nvSpPr>
        <p:spPr>
          <a:xfrm>
            <a:off x="8549640" y="25328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4964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24780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새로고침 · 듣기 · 쇼츠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목록 새로, 소리만, 쇼츠만</a:t>
            </a:r>
            <a:endParaRPr lang="ko-KR" altLang="en-US" sz="1400" dirty="0"/>
          </a:p>
        </p:txBody>
      </p:sp>
      <p:sp>
        <p:nvSpPr>
          <p:cNvPr id="33" name="설명 번호 4"/>
          <p:cNvSpPr/>
          <p:nvPr/>
        </p:nvSpPr>
        <p:spPr>
          <a:xfrm>
            <a:off x="8549640" y="30815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4964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961120" y="3026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검색 막대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AI / 기본 / URL 세 가지 검색</a:t>
            </a:r>
            <a:endParaRPr lang="ko-KR" altLang="en-US" sz="1400" dirty="0"/>
          </a:p>
        </p:txBody>
      </p:sp>
      <p:sp>
        <p:nvSpPr>
          <p:cNvPr id="36" name="설명 번호 5"/>
          <p:cNvSpPr/>
          <p:nvPr/>
        </p:nvSpPr>
        <p:spPr>
          <a:xfrm>
            <a:off x="8549640" y="36301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49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961120" y="35753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탭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보던 곳을 여러 개 열어 두기</a:t>
            </a:r>
            <a:endParaRPr lang="ko-KR" altLang="en-US" sz="1400" dirty="0"/>
          </a:p>
        </p:txBody>
      </p:sp>
      <p:sp>
        <p:nvSpPr>
          <p:cNvPr id="39" name="설명 번호 6"/>
          <p:cNvSpPr/>
          <p:nvPr/>
        </p:nvSpPr>
        <p:spPr>
          <a:xfrm>
            <a:off x="8549640" y="41788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4964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6</a:t>
            </a:r>
            <a:endParaRPr lang="ko-KR" alt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961120" y="41239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필터 줄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4K·라이브 등 조건으로 거르기</a:t>
            </a:r>
            <a:endParaRPr lang="ko-KR" altLang="en-US" sz="1400" dirty="0"/>
          </a:p>
        </p:txBody>
      </p:sp>
      <p:sp>
        <p:nvSpPr>
          <p:cNvPr id="42" name="설명 번호 7"/>
          <p:cNvSpPr/>
          <p:nvPr/>
        </p:nvSpPr>
        <p:spPr>
          <a:xfrm>
            <a:off x="8549640" y="47274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54964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7</a:t>
            </a:r>
            <a:endParaRPr lang="ko-KR" alt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961120" y="46725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격자 / 목록 보기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카드 모양 바꾸기</a:t>
            </a:r>
            <a:endParaRPr lang="ko-KR" altLang="en-US" sz="1400" dirty="0"/>
          </a:p>
        </p:txBody>
      </p:sp>
      <p:sp>
        <p:nvSpPr>
          <p:cNvPr id="45" name="설명 번호 8"/>
          <p:cNvSpPr/>
          <p:nvPr/>
        </p:nvSpPr>
        <p:spPr>
          <a:xfrm>
            <a:off x="8549640" y="52760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549640" y="5276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8</a:t>
            </a:r>
            <a:endParaRPr lang="ko-KR" alt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8961120" y="5221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영상 카드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누르면 재생, 올리면 미리 보기</a:t>
            </a:r>
            <a:endParaRPr lang="ko-KR" altLang="en-US" sz="1400" dirty="0"/>
          </a:p>
        </p:txBody>
      </p:sp>
      <p:sp>
        <p:nvSpPr>
          <p:cNvPr id="48" name="설명 번호 9"/>
          <p:cNvSpPr/>
          <p:nvPr/>
        </p:nvSpPr>
        <p:spPr>
          <a:xfrm>
            <a:off x="8549640" y="58247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49640" y="5824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9</a:t>
            </a:r>
            <a:endParaRPr lang="ko-KR" alt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8961120" y="5769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썸네일 크기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카드를 크게·작게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2 · 영상 찾기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왼쪽 메뉴로 목록 고르기</a:t>
            </a:r>
            <a:endParaRPr lang="ko-KR" altLang="en-US" sz="3000" dirty="0"/>
          </a:p>
        </p:txBody>
      </p:sp>
      <p:sp>
        <p:nvSpPr>
          <p:cNvPr id="4" name="왼쪽 메뉴 판"/>
          <p:cNvSpPr/>
          <p:nvPr/>
        </p:nvSpPr>
        <p:spPr>
          <a:xfrm>
            <a:off x="497776" y="1298448"/>
            <a:ext cx="1473327" cy="5084064"/>
          </a:xfrm>
          <a:prstGeom prst="roundRect">
            <a:avLst>
              <a:gd name="adj" fmla="val 8689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왼쪽 메뉴" descr="왼쪽 메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28" y="1371600"/>
            <a:ext cx="1327023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MyTube</a:t>
            </a:r>
            <a:endParaRPr lang="ko-KR" alt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1828800"/>
          <a:ext cx="46634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697480"/>
              </a:tblGrid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홈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유튜브가 나에게 추천하는 영상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새로운 맞춤 동영상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아직 안 본 새로운 추천만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감상한 동영상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전에 본 영상 중 다시 볼 만한 것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최근에 업로드된 동영상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막 올라온 따끈한 영상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구독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구독 채널의 새 영상 (옆 숫자 = 새 영상 수)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재생 대기열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다음에 볼 영상 줄 (5장에서 설명)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나</a:t>
            </a:r>
            <a:endParaRPr lang="ko-KR" alt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828800"/>
          <a:ext cx="46634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697480"/>
              </a:tblGrid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기록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내가 본 영상 순서대로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재생목록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내가 만든·저장한 재생목록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나중에 볼 동영상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'나중에 보기'로 모아 둔 영상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좋아요 표시한 동영상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좋아요를 누른 영상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내 동영상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내 채널에 올린 영상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설정</a:t>
                      </a:r>
                      <a:endParaRPr lang="ko-KR" alt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4B5563"/>
                          </a:solidFill>
                        </a:rPr>
                        <a:t>계정·테마·재생 방식 (6장에서 설명)</a:t>
                      </a:r>
                      <a:endParaRPr lang="ko-KR" alt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도움말 상자"/>
          <p:cNvSpPr/>
          <p:nvPr/>
        </p:nvSpPr>
        <p:spPr>
          <a:xfrm>
            <a:off x="2240280" y="5257800"/>
            <a:ext cx="9509760" cy="9144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11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54406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834640" y="5385816"/>
            <a:ext cx="8732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메뉴는 지금 탭의 내용을 바꿔요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다른 곳을 같이 열어 두고 싶으면 위쪽 탭 막대의 + 로 새 탭을 만든 뒤 메뉴를 고르세요.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2 · 영상 찾기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영상 카드 읽는 법</a:t>
            </a:r>
            <a:endParaRPr lang="ko-KR" altLang="en-US" sz="3000" dirty="0"/>
          </a:p>
        </p:txBody>
      </p:sp>
      <p:sp>
        <p:nvSpPr>
          <p:cNvPr id="4" name="영상 카드 판"/>
          <p:cNvSpPr/>
          <p:nvPr/>
        </p:nvSpPr>
        <p:spPr>
          <a:xfrm>
            <a:off x="568943" y="1481328"/>
            <a:ext cx="4897154" cy="4352544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영상 카드" descr="영상 카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95" y="1554480"/>
            <a:ext cx="4750850" cy="4206240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1175193" y="1890591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75193" y="189059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4663012" y="3142035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663012" y="314203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213436" y="4602052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13436" y="46020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931857" y="5668096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31857" y="5668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표시 5"/>
          <p:cNvSpPr/>
          <p:nvPr/>
        </p:nvSpPr>
        <p:spPr>
          <a:xfrm>
            <a:off x="3944591" y="5668096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944591" y="5668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6" name="설명 번호 1"/>
          <p:cNvSpPr/>
          <p:nvPr/>
        </p:nvSpPr>
        <p:spPr>
          <a:xfrm>
            <a:off x="5852160" y="1527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472184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화질 표시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이 영상의 가장 좋은 화질 (720p · 1080p · 4K …)</a:t>
            </a:r>
            <a:endParaRPr lang="ko-KR" altLang="en-US" sz="1500" dirty="0"/>
          </a:p>
        </p:txBody>
      </p:sp>
      <p:sp>
        <p:nvSpPr>
          <p:cNvPr id="19" name="설명 번호 2"/>
          <p:cNvSpPr/>
          <p:nvPr/>
        </p:nvSpPr>
        <p:spPr>
          <a:xfrm>
            <a:off x="5852160" y="21488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5216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093976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영상 길이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라이브 방송이면 빨간 LIVE가 깜빡여요</a:t>
            </a:r>
            <a:endParaRPr lang="ko-KR" altLang="en-US" sz="1500" dirty="0"/>
          </a:p>
        </p:txBody>
      </p:sp>
      <p:sp>
        <p:nvSpPr>
          <p:cNvPr id="22" name="설명 번호 3"/>
          <p:cNvSpPr/>
          <p:nvPr/>
        </p:nvSpPr>
        <p:spPr>
          <a:xfrm>
            <a:off x="5852160" y="27706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5216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2715768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제목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두 줄까지 보여요</a:t>
            </a:r>
            <a:endParaRPr lang="ko-KR" altLang="en-US" sz="1500" dirty="0"/>
          </a:p>
        </p:txBody>
      </p:sp>
      <p:sp>
        <p:nvSpPr>
          <p:cNvPr id="25" name="설명 번호 4"/>
          <p:cNvSpPr/>
          <p:nvPr/>
        </p:nvSpPr>
        <p:spPr>
          <a:xfrm>
            <a:off x="5852160" y="339242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337560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채널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채널 이름과 첫 글자 동그라미</a:t>
            </a:r>
            <a:endParaRPr lang="ko-KR" altLang="en-US" sz="1500" dirty="0"/>
          </a:p>
        </p:txBody>
      </p:sp>
      <p:sp>
        <p:nvSpPr>
          <p:cNvPr id="28" name="설명 번호 5"/>
          <p:cNvSpPr/>
          <p:nvPr/>
        </p:nvSpPr>
        <p:spPr>
          <a:xfrm>
            <a:off x="5852160" y="401421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5216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3959352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조회수 · 올린 때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하루 안이면 '3시간 전', 지나면 날짜</a:t>
            </a:r>
            <a:endParaRPr lang="ko-KR" altLang="en-US" sz="1500" dirty="0"/>
          </a:p>
        </p:txBody>
      </p:sp>
      <p:sp>
        <p:nvSpPr>
          <p:cNvPr id="31" name="도움말 상자"/>
          <p:cNvSpPr/>
          <p:nvPr/>
        </p:nvSpPr>
        <p:spPr>
          <a:xfrm>
            <a:off x="5852160" y="4754880"/>
            <a:ext cx="5806440" cy="1463040"/>
          </a:xfrm>
          <a:prstGeom prst="roundRect">
            <a:avLst>
              <a:gd name="adj" fmla="val 75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32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937760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446520" y="4882896"/>
            <a:ext cx="5029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카드로 할 수 있는 일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누르기: 바로 재생 · 마우스 올려 두기: 소리 없이 미리 보기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오른쪽 클릭: 소리만 듣기, 다음에 재생, 대기열에 추가, 다운로드, 채널 숨기기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2 · 영상 찾기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검색은 3가지 방법이 있어요</a:t>
            </a:r>
            <a:endParaRPr lang="ko-KR" altLang="en-US" sz="3000" dirty="0"/>
          </a:p>
        </p:txBody>
      </p:sp>
      <p:sp>
        <p:nvSpPr>
          <p:cNvPr id="4" name="검색 결과 화면 판"/>
          <p:cNvSpPr/>
          <p:nvPr/>
        </p:nvSpPr>
        <p:spPr>
          <a:xfrm>
            <a:off x="4727448" y="1380229"/>
            <a:ext cx="7004304" cy="3366022"/>
          </a:xfrm>
          <a:prstGeom prst="roundRect">
            <a:avLst>
              <a:gd name="adj" fmla="val 3803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검색 결과 화면" descr="검색 결과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53381"/>
            <a:ext cx="6858000" cy="3219718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6879637" y="146213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79637" y="14621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7794037" y="146213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94037" y="14621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9152758" y="199983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152758" y="19998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검색 방식 AI 검색"/>
          <p:cNvSpPr/>
          <p:nvPr/>
        </p:nvSpPr>
        <p:spPr>
          <a:xfrm>
            <a:off x="548640" y="1417320"/>
            <a:ext cx="39776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AI 검색 아이콘 바탕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I 검색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25880" y="1554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AI 검색  </a:t>
            </a:r>
            <a:pPr eaLnBrk="0" indent="0" marL="0">
              <a:spcAft>
                <a:spcPts val="300"/>
              </a:spcAft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보고 싶은 걸 말로 설명해요</a:t>
            </a:r>
            <a:endParaRPr lang="ko-KR" altLang="en-US" sz="16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예: "주말에 볼 잔잔한 캠핑 브이로그" → 재미나이가 검색어·조건을 정해 줘요</a:t>
            </a:r>
            <a:endParaRPr lang="ko-KR" altLang="en-US" sz="1600" dirty="0"/>
          </a:p>
        </p:txBody>
      </p:sp>
      <p:sp>
        <p:nvSpPr>
          <p:cNvPr id="16" name="검색 방식 기본 검색"/>
          <p:cNvSpPr/>
          <p:nvPr/>
        </p:nvSpPr>
        <p:spPr>
          <a:xfrm>
            <a:off x="548640" y="3017520"/>
            <a:ext cx="39776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기본 검색 아이콘 바탕"/>
          <p:cNvSpPr/>
          <p:nvPr/>
        </p:nvSpPr>
        <p:spPr>
          <a:xfrm>
            <a:off x="731520" y="32186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기본 검색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284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1546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기본 검색  </a:t>
            </a:r>
            <a:pPr eaLnBrk="0" indent="0" marL="0">
              <a:spcAft>
                <a:spcPts val="300"/>
              </a:spcAft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유튜브 검색과 같아요</a:t>
            </a:r>
            <a:endParaRPr lang="ko-KR" altLang="en-US" sz="16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검색어를 넣고 Enter. 결과 위에 날짜·정렬·구분 고르기가 생겨요</a:t>
            </a:r>
            <a:endParaRPr lang="ko-KR" altLang="en-US" sz="1600" dirty="0"/>
          </a:p>
        </p:txBody>
      </p:sp>
      <p:sp>
        <p:nvSpPr>
          <p:cNvPr id="20" name="검색 방식 URL"/>
          <p:cNvSpPr/>
          <p:nvPr/>
        </p:nvSpPr>
        <p:spPr>
          <a:xfrm>
            <a:off x="548640" y="4617720"/>
            <a:ext cx="39776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URL 아이콘 바탕"/>
          <p:cNvSpPr/>
          <p:nvPr/>
        </p:nvSpPr>
        <p:spPr>
          <a:xfrm>
            <a:off x="731520" y="4818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URL 아이콘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92861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URL  </a:t>
            </a:r>
            <a:pPr eaLnBrk="0" indent="0" marL="0">
              <a:spcAft>
                <a:spcPts val="300"/>
              </a:spcAft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유튜브 주소를 붙여 넣어요</a:t>
            </a:r>
            <a:endParaRPr lang="ko-KR" altLang="en-US" sz="16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영상 주소면 바로 재생, 재생목록·채널 주소면 그 목록을 열어요</a:t>
            </a:r>
            <a:endParaRPr lang="ko-KR" altLang="en-US" sz="1600" dirty="0"/>
          </a:p>
        </p:txBody>
      </p:sp>
      <p:sp>
        <p:nvSpPr>
          <p:cNvPr id="24" name="설명 번호 1"/>
          <p:cNvSpPr/>
          <p:nvPr/>
        </p:nvSpPr>
        <p:spPr>
          <a:xfrm>
            <a:off x="4892040" y="50017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89204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303520" y="494690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검색 방식 고르기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AI · 기본 · URL 중 하나</a:t>
            </a:r>
            <a:endParaRPr lang="ko-KR" altLang="en-US" sz="1400" dirty="0"/>
          </a:p>
        </p:txBody>
      </p:sp>
      <p:sp>
        <p:nvSpPr>
          <p:cNvPr id="27" name="설명 번호 2"/>
          <p:cNvSpPr/>
          <p:nvPr/>
        </p:nvSpPr>
        <p:spPr>
          <a:xfrm>
            <a:off x="4892040" y="54589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892040" y="5458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303520" y="540410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검색 칸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글을 넣고 Enter (⌘L 로 바로 이동)</a:t>
            </a:r>
            <a:endParaRPr lang="ko-KR" altLang="en-US" sz="1400" dirty="0"/>
          </a:p>
        </p:txBody>
      </p:sp>
      <p:sp>
        <p:nvSpPr>
          <p:cNvPr id="30" name="설명 번호 3"/>
          <p:cNvSpPr/>
          <p:nvPr/>
        </p:nvSpPr>
        <p:spPr>
          <a:xfrm>
            <a:off x="4892040" y="59161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892040" y="5916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303520" y="586130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검색 조건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날짜 · 정렬(관련성/인기도) · 구분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2 · 영상 찾기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필터와 보기 방식 바꾸기</a:t>
            </a:r>
            <a:endParaRPr lang="ko-KR" altLang="en-US" sz="3000" dirty="0"/>
          </a:p>
        </p:txBody>
      </p:sp>
      <p:sp>
        <p:nvSpPr>
          <p:cNvPr id="4" name="목록형 보기 판"/>
          <p:cNvSpPr/>
          <p:nvPr/>
        </p:nvSpPr>
        <p:spPr>
          <a:xfrm>
            <a:off x="475488" y="1495924"/>
            <a:ext cx="7095744" cy="3408952"/>
          </a:xfrm>
          <a:prstGeom prst="roundRect">
            <a:avLst>
              <a:gd name="adj" fmla="val 3755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목록형 보기" descr="목록형 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9076"/>
            <a:ext cx="6949440" cy="3262648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784710" y="212488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4710" y="2124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7124035" y="212488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124035" y="2124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설명 번호 1"/>
          <p:cNvSpPr/>
          <p:nvPr/>
        </p:nvSpPr>
        <p:spPr>
          <a:xfrm>
            <a:off x="7863840" y="1481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1426464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기능별 필터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720p+ · 1080p+ · 2K+ · 4K · VR · 라이브. 한 번 더 누르면 해제돼요. 화질은 영상마다 확인해서 조금 걸려요</a:t>
            </a:r>
            <a:endParaRPr lang="ko-KR" altLang="en-US" sz="1500" dirty="0"/>
          </a:p>
        </p:txBody>
      </p:sp>
      <p:sp>
        <p:nvSpPr>
          <p:cNvPr id="13" name="설명 번호 2"/>
          <p:cNvSpPr/>
          <p:nvPr/>
        </p:nvSpPr>
        <p:spPr>
          <a:xfrm>
            <a:off x="7863840" y="28986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843784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격자 / 목록 보기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격자는 썸네일 위주, 목록은 제목·채널을 크게 보여 줘요 (대기열·기록 볼 때 편해요)</a:t>
            </a:r>
            <a:endParaRPr lang="ko-KR" altLang="en-US" sz="1500" dirty="0"/>
          </a:p>
        </p:txBody>
      </p:sp>
      <p:sp>
        <p:nvSpPr>
          <p:cNvPr id="16" name="도움말 상자"/>
          <p:cNvSpPr/>
          <p:nvPr/>
        </p:nvSpPr>
        <p:spPr>
          <a:xfrm>
            <a:off x="7863840" y="434340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17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52628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58200" y="4471416"/>
            <a:ext cx="30175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보던 영상 표시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보다 만 영상은 썸네일 아래에 빨간 진행 막대, 다 본 영상은 '봤음' 표시와 함께 살짝 어둡게 보여요.</a:t>
            </a:r>
            <a:endParaRPr lang="ko-KR" altLang="en-US" sz="1400" dirty="0"/>
          </a:p>
        </p:txBody>
      </p:sp>
      <p:sp>
        <p:nvSpPr>
          <p:cNvPr id="19" name="도움말 상자"/>
          <p:cNvSpPr/>
          <p:nvPr/>
        </p:nvSpPr>
        <p:spPr>
          <a:xfrm>
            <a:off x="548640" y="525780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20" name="도움말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406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5385816"/>
            <a:ext cx="6172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썸네일 크기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왼쪽 메뉴 맨 아래 막대를 끌어 카드를 크게·작게 해요.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2 · 영상 찾기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탭으로 여러 곳을 열어 두기</a:t>
            </a:r>
            <a:endParaRPr lang="ko-KR" altLang="en-US" sz="3000" dirty="0"/>
          </a:p>
        </p:txBody>
      </p:sp>
      <p:sp>
        <p:nvSpPr>
          <p:cNvPr id="4" name="탭 막대 판"/>
          <p:cNvSpPr/>
          <p:nvPr/>
        </p:nvSpPr>
        <p:spPr>
          <a:xfrm>
            <a:off x="475488" y="1422604"/>
            <a:ext cx="11256264" cy="995273"/>
          </a:xfrm>
          <a:prstGeom prst="roundRect">
            <a:avLst>
              <a:gd name="adj" fmla="val 12862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탭 막대" descr="탭 막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5756"/>
            <a:ext cx="11109960" cy="848969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1105906" y="154993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05906" y="1549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2782882" y="154993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782882" y="1549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3836231" y="154993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836231" y="1549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11267327" y="154993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1267327" y="1549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설명 번호 1"/>
          <p:cNvSpPr/>
          <p:nvPr/>
        </p:nvSpPr>
        <p:spPr>
          <a:xfrm>
            <a:off x="548640" y="28072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75234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다른 탭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누르면 그 탭이 보던 곳으로 돌아가요 (받아 둔 목록은 바로 보여요)</a:t>
            </a:r>
            <a:endParaRPr lang="ko-KR" altLang="en-US" sz="1500" dirty="0"/>
          </a:p>
        </p:txBody>
      </p:sp>
      <p:sp>
        <p:nvSpPr>
          <p:cNvPr id="17" name="설명 번호 2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357530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지금 탭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진하게 보이고 아이콘이 주황색이에요. 왼쪽 메뉴를 고르면 이 탭이 바뀌어요</a:t>
            </a:r>
            <a:endParaRPr lang="ko-KR" altLang="en-US" sz="1500" dirty="0"/>
          </a:p>
        </p:txBody>
      </p:sp>
      <p:sp>
        <p:nvSpPr>
          <p:cNvPr id="20" name="설명 번호 3"/>
          <p:cNvSpPr/>
          <p:nvPr/>
        </p:nvSpPr>
        <p:spPr>
          <a:xfrm>
            <a:off x="548640" y="44531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439826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탭 닫기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× 를 누르거나 탭을 오른쪽 클릭 → 탭 닫기</a:t>
            </a:r>
            <a:endParaRPr lang="ko-KR" altLang="en-US" sz="1500" dirty="0"/>
          </a:p>
        </p:txBody>
      </p:sp>
      <p:sp>
        <p:nvSpPr>
          <p:cNvPr id="23" name="설명 번호 4"/>
          <p:cNvSpPr/>
          <p:nvPr/>
        </p:nvSpPr>
        <p:spPr>
          <a:xfrm>
            <a:off x="548640" y="52760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276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" y="522122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새 탭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+ 를 누르면 홈이 열린 새 탭. 채널로 가기도 새 탭으로 열려요</a:t>
            </a:r>
            <a:endParaRPr lang="ko-KR" alt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탭 단축키</a:t>
            </a:r>
            <a:endParaRPr lang="ko-KR" alt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3154680"/>
          <a:ext cx="4663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</a:tblGrid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⌘ T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새 탭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⌥ ⌘ W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지금 탭 닫기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⌃ Tab  /  ⌃ ⇧ Tab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다음 탭 / 이전 탭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⌘ 1 ~ ⌘ 9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1~9번째 탭으로</a:t>
                      </a:r>
                      <a:endParaRPr lang="ko-KR" alt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6995160" y="5623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앱을 껐다 켜도 열어 둔 탭은 그대로 남아요.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3 · 영상 보기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재생 창 둘러보기</a:t>
            </a:r>
            <a:endParaRPr lang="ko-KR" altLang="en-US" sz="3000" dirty="0"/>
          </a:p>
        </p:txBody>
      </p:sp>
      <p:sp>
        <p:nvSpPr>
          <p:cNvPr id="4" name="재생 창 판"/>
          <p:cNvSpPr/>
          <p:nvPr/>
        </p:nvSpPr>
        <p:spPr>
          <a:xfrm>
            <a:off x="475488" y="1344168"/>
            <a:ext cx="7461504" cy="4261104"/>
          </a:xfrm>
          <a:prstGeom prst="roundRect">
            <a:avLst>
              <a:gd name="adj" fmla="val 3004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재생 창" descr="재생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315200" cy="4114800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1223010" y="141732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22301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4023360" y="272034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023360" y="2720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4023360" y="443484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02336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설명 번호 1"/>
          <p:cNvSpPr/>
          <p:nvPr/>
        </p:nvSpPr>
        <p:spPr>
          <a:xfrm>
            <a:off x="8229600" y="1481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142646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위쪽 막대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마우스를 올리면 나타나요. 제목·화질·속도·좋아요·댓글 등 (다음 장)</a:t>
            </a:r>
            <a:endParaRPr lang="ko-KR" altLang="en-US" sz="1500" dirty="0"/>
          </a:p>
        </p:txBody>
      </p:sp>
      <p:sp>
        <p:nvSpPr>
          <p:cNvPr id="15" name="설명 번호 2"/>
          <p:cNvSpPr/>
          <p:nvPr/>
        </p:nvSpPr>
        <p:spPr>
          <a:xfrm>
            <a:off x="8229600" y="25786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41080" y="252374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영상 화면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더블클릭 = 전체 화면 · 끌기 = 창 옮기기 · Esc = 닫기</a:t>
            </a:r>
            <a:endParaRPr lang="ko-KR" altLang="en-US" sz="1500" dirty="0"/>
          </a:p>
        </p:txBody>
      </p:sp>
      <p:sp>
        <p:nvSpPr>
          <p:cNvPr id="18" name="설명 번호 3"/>
          <p:cNvSpPr/>
          <p:nvPr/>
        </p:nvSpPr>
        <p:spPr>
          <a:xfrm>
            <a:off x="8229600" y="36758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641080" y="362102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아래 조작 막대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재생/멈춤, ◀◀ ▶▶ 15초, 소리, 위치 막대</a:t>
            </a:r>
            <a:endParaRPr lang="ko-KR" altLang="en-US" sz="1500" dirty="0"/>
          </a:p>
        </p:txBody>
      </p:sp>
      <p:sp>
        <p:nvSpPr>
          <p:cNvPr id="21" name="도움말 상자"/>
          <p:cNvSpPr/>
          <p:nvPr/>
        </p:nvSpPr>
        <p:spPr>
          <a:xfrm>
            <a:off x="8229600" y="4800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22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98348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823960" y="4928616"/>
            <a:ext cx="26517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보던 곳부터 이어 보기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보다가 닫으면 그 위치를 기억해서, 다음에 열면 이어서 재생해요.</a:t>
            </a:r>
            <a:endParaRPr lang="ko-KR" altLang="en-US" sz="1400" dirty="0"/>
          </a:p>
        </p:txBody>
      </p:sp>
      <p:sp>
        <p:nvSpPr>
          <p:cNvPr id="24" name="도움말 상자"/>
          <p:cNvSpPr/>
          <p:nvPr/>
        </p:nvSpPr>
        <p:spPr>
          <a:xfrm>
            <a:off x="548640" y="5760720"/>
            <a:ext cx="7315200" cy="502920"/>
          </a:xfrm>
          <a:prstGeom prst="roundRect">
            <a:avLst>
              <a:gd name="adj" fmla="val 21818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25" name="도움말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43000" y="5888736"/>
            <a:ext cx="6537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4K까지 가장 좋은 화질로 자동 재생, 화면이 멈추면 한 단계 낮췄다가 다시 올려요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3 · 영상 보기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위쪽 막대 단추 하나씩 알아보기</a:t>
            </a:r>
            <a:endParaRPr lang="ko-KR" altLang="en-US" sz="3000" dirty="0"/>
          </a:p>
        </p:txBody>
      </p:sp>
      <p:sp>
        <p:nvSpPr>
          <p:cNvPr id="4" name="위쪽 막대 단추 판"/>
          <p:cNvSpPr/>
          <p:nvPr/>
        </p:nvSpPr>
        <p:spPr>
          <a:xfrm>
            <a:off x="475488" y="1391181"/>
            <a:ext cx="11256264" cy="1058117"/>
          </a:xfrm>
          <a:prstGeom prst="roundRect">
            <a:avLst>
              <a:gd name="adj" fmla="val 12098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위쪽 막대 단추" descr="위쪽 막대 단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4333"/>
            <a:ext cx="11109960" cy="911813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2287639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287639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4784061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784061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5775547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75547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6483752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83752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표시 5"/>
          <p:cNvSpPr/>
          <p:nvPr/>
        </p:nvSpPr>
        <p:spPr>
          <a:xfrm>
            <a:off x="7103431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103431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6" name="표시 6"/>
          <p:cNvSpPr/>
          <p:nvPr/>
        </p:nvSpPr>
        <p:spPr>
          <a:xfrm>
            <a:off x="7988687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988687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6</a:t>
            </a:r>
            <a:endParaRPr lang="ko-KR" altLang="en-US" sz="1300" dirty="0"/>
          </a:p>
        </p:txBody>
      </p:sp>
      <p:sp>
        <p:nvSpPr>
          <p:cNvPr id="18" name="표시 7"/>
          <p:cNvSpPr/>
          <p:nvPr/>
        </p:nvSpPr>
        <p:spPr>
          <a:xfrm>
            <a:off x="8891647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891647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7</a:t>
            </a:r>
            <a:endParaRPr lang="ko-KR" altLang="en-US" sz="1300" dirty="0"/>
          </a:p>
        </p:txBody>
      </p:sp>
      <p:sp>
        <p:nvSpPr>
          <p:cNvPr id="20" name="표시 8"/>
          <p:cNvSpPr/>
          <p:nvPr/>
        </p:nvSpPr>
        <p:spPr>
          <a:xfrm>
            <a:off x="9546737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546737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8</a:t>
            </a:r>
            <a:endParaRPr lang="ko-KR" altLang="en-US" sz="1300" dirty="0"/>
          </a:p>
        </p:txBody>
      </p:sp>
      <p:sp>
        <p:nvSpPr>
          <p:cNvPr id="22" name="표시 9"/>
          <p:cNvSpPr/>
          <p:nvPr/>
        </p:nvSpPr>
        <p:spPr>
          <a:xfrm>
            <a:off x="10175268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10175268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9</a:t>
            </a:r>
            <a:endParaRPr lang="ko-KR" altLang="en-US" sz="1300" dirty="0"/>
          </a:p>
        </p:txBody>
      </p:sp>
      <p:sp>
        <p:nvSpPr>
          <p:cNvPr id="24" name="표시 10"/>
          <p:cNvSpPr/>
          <p:nvPr/>
        </p:nvSpPr>
        <p:spPr>
          <a:xfrm>
            <a:off x="10874620" y="21233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10874620" y="21233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10</a:t>
            </a:r>
            <a:endParaRPr lang="ko-KR" altLang="en-US" sz="1300" dirty="0"/>
          </a:p>
        </p:txBody>
      </p:sp>
      <p:sp>
        <p:nvSpPr>
          <p:cNvPr id="26" name="설명 번호 1"/>
          <p:cNvSpPr/>
          <p:nvPr/>
        </p:nvSpPr>
        <p:spPr>
          <a:xfrm>
            <a:off x="548640" y="28072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2752344"/>
            <a:ext cx="5074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채널로 가기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이 영상 채널의 영상 목록을 새 탭으로</a:t>
            </a:r>
            <a:endParaRPr lang="ko-KR" altLang="en-US" sz="1500" dirty="0"/>
          </a:p>
        </p:txBody>
      </p:sp>
      <p:sp>
        <p:nvSpPr>
          <p:cNvPr id="29" name="설명 번호 2"/>
          <p:cNvSpPr/>
          <p:nvPr/>
        </p:nvSpPr>
        <p:spPr>
          <a:xfrm>
            <a:off x="548640" y="35021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3447288"/>
            <a:ext cx="5074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화질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자동(추천) 또는 4K·1080p 등으로 고정</a:t>
            </a:r>
            <a:endParaRPr lang="ko-KR" altLang="en-US" sz="1500" dirty="0"/>
          </a:p>
        </p:txBody>
      </p:sp>
      <p:sp>
        <p:nvSpPr>
          <p:cNvPr id="32" name="설명 번호 3"/>
          <p:cNvSpPr/>
          <p:nvPr/>
        </p:nvSpPr>
        <p:spPr>
          <a:xfrm>
            <a:off x="548640" y="419709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60120" y="4142232"/>
            <a:ext cx="5074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재생 속도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0.75~2배, 채널마다 기억해요</a:t>
            </a:r>
            <a:endParaRPr lang="ko-KR" altLang="en-US" sz="1500" dirty="0"/>
          </a:p>
        </p:txBody>
      </p:sp>
      <p:sp>
        <p:nvSpPr>
          <p:cNvPr id="35" name="설명 번호 4"/>
          <p:cNvSpPr/>
          <p:nvPr/>
        </p:nvSpPr>
        <p:spPr>
          <a:xfrm>
            <a:off x="548640" y="4892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" y="4837176"/>
            <a:ext cx="5074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좋아요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유튜브 계정에 그대로 반영돼요</a:t>
            </a:r>
            <a:endParaRPr lang="ko-KR" altLang="en-US" sz="1500" dirty="0"/>
          </a:p>
        </p:txBody>
      </p:sp>
      <p:sp>
        <p:nvSpPr>
          <p:cNvPr id="38" name="설명 번호 5"/>
          <p:cNvSpPr/>
          <p:nvPr/>
        </p:nvSpPr>
        <p:spPr>
          <a:xfrm>
            <a:off x="548640" y="558698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960120" y="5532120"/>
            <a:ext cx="5074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싫어요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다시 누르면 취소</a:t>
            </a:r>
            <a:endParaRPr lang="ko-KR" altLang="en-US" sz="1500" dirty="0"/>
          </a:p>
        </p:txBody>
      </p:sp>
      <p:sp>
        <p:nvSpPr>
          <p:cNvPr id="41" name="설명 번호 6"/>
          <p:cNvSpPr/>
          <p:nvPr/>
        </p:nvSpPr>
        <p:spPr>
          <a:xfrm>
            <a:off x="6263640" y="28072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26364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6</a:t>
            </a:r>
            <a:endParaRPr lang="ko-KR" alt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2752344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댓글 · 설명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옆 숫자는 댓글 수 (다음 다음 장)</a:t>
            </a:r>
            <a:endParaRPr lang="ko-KR" altLang="en-US" sz="1500" dirty="0"/>
          </a:p>
        </p:txBody>
      </p:sp>
      <p:sp>
        <p:nvSpPr>
          <p:cNvPr id="44" name="설명 번호 7"/>
          <p:cNvSpPr/>
          <p:nvPr/>
        </p:nvSpPr>
        <p:spPr>
          <a:xfrm>
            <a:off x="6263640" y="35021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7</a:t>
            </a:r>
            <a:endParaRPr lang="ko-KR" alt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675120" y="344728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공유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링크 복사, 지금 위치부터 보는 링크</a:t>
            </a:r>
            <a:endParaRPr lang="ko-KR" altLang="en-US" sz="1500" dirty="0"/>
          </a:p>
        </p:txBody>
      </p:sp>
      <p:sp>
        <p:nvSpPr>
          <p:cNvPr id="47" name="설명 번호 8"/>
          <p:cNvSpPr/>
          <p:nvPr/>
        </p:nvSpPr>
        <p:spPr>
          <a:xfrm>
            <a:off x="6263640" y="419709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26364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8</a:t>
            </a:r>
            <a:endParaRPr lang="ko-KR" alt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675120" y="4142232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질문하기 (AI)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이 영상에 대해 물어보기 · 요약</a:t>
            </a:r>
            <a:endParaRPr lang="ko-KR" altLang="en-US" sz="1500" dirty="0"/>
          </a:p>
        </p:txBody>
      </p:sp>
      <p:sp>
        <p:nvSpPr>
          <p:cNvPr id="50" name="설명 번호 9"/>
          <p:cNvSpPr/>
          <p:nvPr/>
        </p:nvSpPr>
        <p:spPr>
          <a:xfrm>
            <a:off x="6263640" y="48920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26364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9</a:t>
            </a:r>
            <a:endParaRPr lang="ko-KR" alt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6675120" y="4837176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듣기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같은 위치에서 소리만 듣기로</a:t>
            </a:r>
            <a:endParaRPr lang="ko-KR" altLang="en-US" sz="1500" dirty="0"/>
          </a:p>
        </p:txBody>
      </p:sp>
      <p:sp>
        <p:nvSpPr>
          <p:cNvPr id="53" name="설명 번호 10"/>
          <p:cNvSpPr/>
          <p:nvPr/>
        </p:nvSpPr>
        <p:spPr>
          <a:xfrm>
            <a:off x="6263640" y="558698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26364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10</a:t>
            </a:r>
            <a:endParaRPr lang="ko-KR" alt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6675120" y="5532120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더보기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자막·챕터·저장·다운로드·창 크기·회전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3 · 영상 보기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재생 창에서 쓰는 단축키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보기·이동</a:t>
            </a:r>
            <a:endParaRPr lang="ko-KR" alt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</a:tblGrid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← / →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15초 뒤로 / 앞으로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⇧ .  /  ⇧ ,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빠르게 / 느리게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더블클릭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전체 화면 켜기·끄기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Esc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재생 창 닫기 (판이 열려 있으면 판만)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화면 90도 돌리기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창 크기 (숫자 키)</a:t>
            </a:r>
            <a:endParaRPr lang="ko-KR" alt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</a:tblGrid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영상 원래 크기 (1배)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0.5배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가로 1920, 세로는 비율대로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0.25배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끌기</a:t>
                      </a:r>
                      <a:endParaRPr lang="ko-KR" alt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창 옮기기</a:t>
                      </a:r>
                      <a:endParaRPr lang="ko-KR" alt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도움말 상자"/>
          <p:cNvSpPr/>
          <p:nvPr/>
        </p:nvSpPr>
        <p:spPr>
          <a:xfrm>
            <a:off x="548640" y="5486400"/>
            <a:ext cx="11109960" cy="731520"/>
          </a:xfrm>
          <a:prstGeom prst="roundRect">
            <a:avLst>
              <a:gd name="adj" fmla="val 150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9" name="도움말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5614416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어디서나 쓰는 단축키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⌥⌘ Space 재생/멈춤 · ⌥⌘ ← → 15초 · ⌥⌘⇧ → 다음 영상 · 키보드의 ⏯ ⏭ 키와 제어 센터에서도 조작돼요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3 · 영상 보기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댓글·설명 보기</a:t>
            </a:r>
            <a:endParaRPr lang="ko-KR" altLang="en-US" sz="3000" dirty="0"/>
          </a:p>
        </p:txBody>
      </p:sp>
      <p:sp>
        <p:nvSpPr>
          <p:cNvPr id="4" name="댓글 판 판"/>
          <p:cNvSpPr/>
          <p:nvPr/>
        </p:nvSpPr>
        <p:spPr>
          <a:xfrm>
            <a:off x="541253" y="1298448"/>
            <a:ext cx="4038135" cy="5084064"/>
          </a:xfrm>
          <a:prstGeom prst="roundRect">
            <a:avLst>
              <a:gd name="adj" fmla="val 3170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댓글 판" descr="댓글 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05" y="1371600"/>
            <a:ext cx="3891831" cy="4937760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2404872" y="141682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404872" y="14168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2465682" y="228032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465682" y="22803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2222442" y="253268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222442" y="25326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2587302" y="316206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587302" y="31620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표시 5"/>
          <p:cNvSpPr/>
          <p:nvPr/>
        </p:nvSpPr>
        <p:spPr>
          <a:xfrm>
            <a:off x="4092345" y="193674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092345" y="19367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6" name="설명 번호 1"/>
          <p:cNvSpPr/>
          <p:nvPr/>
        </p:nvSpPr>
        <p:spPr>
          <a:xfrm>
            <a:off x="5029200" y="1481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142646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💬 단추 누르기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위쪽 막대의 말풍선 단추. 옆 숫자가 댓글 수예요</a:t>
            </a:r>
            <a:endParaRPr lang="ko-KR" altLang="en-US" sz="1500" dirty="0"/>
          </a:p>
        </p:txBody>
      </p:sp>
      <p:sp>
        <p:nvSpPr>
          <p:cNvPr id="19" name="설명 번호 2"/>
          <p:cNvSpPr/>
          <p:nvPr/>
        </p:nvSpPr>
        <p:spPr>
          <a:xfrm>
            <a:off x="5029200" y="23500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229514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채널 · 조회수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채널 사진, 구독자 수, 조회수, 올린 날짜</a:t>
            </a:r>
            <a:endParaRPr lang="ko-KR" altLang="en-US" sz="1500" dirty="0"/>
          </a:p>
        </p:txBody>
      </p:sp>
      <p:sp>
        <p:nvSpPr>
          <p:cNvPr id="22" name="설명 번호 3"/>
          <p:cNvSpPr/>
          <p:nvPr/>
        </p:nvSpPr>
        <p:spPr>
          <a:xfrm>
            <a:off x="5029200" y="32186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316382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댓글 / 설명 고르기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댓글 목록과 영상 설명(더보기 글)을 오가요</a:t>
            </a:r>
            <a:endParaRPr lang="ko-KR" altLang="en-US" sz="1500" dirty="0"/>
          </a:p>
        </p:txBody>
      </p:sp>
      <p:sp>
        <p:nvSpPr>
          <p:cNvPr id="25" name="설명 번호 4"/>
          <p:cNvSpPr/>
          <p:nvPr/>
        </p:nvSpPr>
        <p:spPr>
          <a:xfrm>
            <a:off x="5029200" y="40873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403250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댓글 목록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아래로 내리면 댓글을 더 불러와요</a:t>
            </a:r>
            <a:endParaRPr lang="ko-KR" altLang="en-US" sz="1500" dirty="0"/>
          </a:p>
        </p:txBody>
      </p:sp>
      <p:sp>
        <p:nvSpPr>
          <p:cNvPr id="28" name="설명 번호 5"/>
          <p:cNvSpPr/>
          <p:nvPr/>
        </p:nvSpPr>
        <p:spPr>
          <a:xfrm>
            <a:off x="5029200" y="4956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40680" y="490118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닫기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× 또는 Esc. 판은 영상 위 오른쪽에 떠 있어서 영상 크기는 그대로예요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3 · 영상 보기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AI에게 영상에 대해 물어보기</a:t>
            </a:r>
            <a:endParaRPr lang="ko-KR" altLang="en-US" sz="3000" dirty="0"/>
          </a:p>
        </p:txBody>
      </p:sp>
      <p:sp>
        <p:nvSpPr>
          <p:cNvPr id="4" name="질문하기 판 판"/>
          <p:cNvSpPr/>
          <p:nvPr/>
        </p:nvSpPr>
        <p:spPr>
          <a:xfrm>
            <a:off x="541253" y="1298448"/>
            <a:ext cx="4038135" cy="5084064"/>
          </a:xfrm>
          <a:prstGeom prst="roundRect">
            <a:avLst>
              <a:gd name="adj" fmla="val 3170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질문하기 판" descr="질문하기 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05" y="1371600"/>
            <a:ext cx="3891831" cy="4937760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3697081" y="141682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3697081" y="14168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2465682" y="224079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465682" y="22407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3742689" y="248099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742689" y="24809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3104185" y="291882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104185" y="2918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표시 5"/>
          <p:cNvSpPr/>
          <p:nvPr/>
        </p:nvSpPr>
        <p:spPr>
          <a:xfrm>
            <a:off x="3012971" y="58833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012971" y="5883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6" name="설명 번호 1"/>
          <p:cNvSpPr/>
          <p:nvPr/>
        </p:nvSpPr>
        <p:spPr>
          <a:xfrm>
            <a:off x="5029200" y="1481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142646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✦ 단추 누르기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위쪽 막대의 반짝이 단추</a:t>
            </a:r>
            <a:endParaRPr lang="ko-KR" altLang="en-US" sz="1500" dirty="0"/>
          </a:p>
        </p:txBody>
      </p:sp>
      <p:sp>
        <p:nvSpPr>
          <p:cNvPr id="19" name="설명 번호 2"/>
          <p:cNvSpPr/>
          <p:nvPr/>
        </p:nvSpPr>
        <p:spPr>
          <a:xfrm>
            <a:off x="5029200" y="23042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224942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질문하기 / 요약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요약을 고르면 3줄 요약과 핵심 장면이 나와요 (장면을 누르면 그 위치로)</a:t>
            </a:r>
            <a:endParaRPr lang="ko-KR" altLang="en-US" sz="1500" dirty="0"/>
          </a:p>
        </p:txBody>
      </p:sp>
      <p:sp>
        <p:nvSpPr>
          <p:cNvPr id="22" name="설명 번호 3"/>
          <p:cNvSpPr/>
          <p:nvPr/>
        </p:nvSpPr>
        <p:spPr>
          <a:xfrm>
            <a:off x="5029200" y="31272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30723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내 질문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예: 핵심만 알려 줘, 추천 제품이 뭐야?</a:t>
            </a:r>
            <a:endParaRPr lang="ko-KR" altLang="en-US" sz="1500" dirty="0"/>
          </a:p>
        </p:txBody>
      </p:sp>
      <p:sp>
        <p:nvSpPr>
          <p:cNvPr id="25" name="설명 번호 4"/>
          <p:cNvSpPr/>
          <p:nvPr/>
        </p:nvSpPr>
        <p:spPr>
          <a:xfrm>
            <a:off x="5029200" y="39502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389534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AI의 답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영상 자막을 읽고 답해요. 관련 장면 시간도 알려 줘요 (10~30초)</a:t>
            </a:r>
            <a:endParaRPr lang="ko-KR" altLang="en-US" sz="1500" dirty="0"/>
          </a:p>
        </p:txBody>
      </p:sp>
      <p:sp>
        <p:nvSpPr>
          <p:cNvPr id="28" name="설명 번호 5"/>
          <p:cNvSpPr/>
          <p:nvPr/>
        </p:nvSpPr>
        <p:spPr>
          <a:xfrm>
            <a:off x="5029200" y="47731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0" y="4773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40680" y="471830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질문 칸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글을 쓰고 Enter 또는 ↑ 단추. 쓰는 동안 단축키는 꺼져요</a:t>
            </a:r>
            <a:endParaRPr lang="ko-KR" altLang="en-US" sz="1500" dirty="0"/>
          </a:p>
        </p:txBody>
      </p:sp>
      <p:sp>
        <p:nvSpPr>
          <p:cNvPr id="31" name="도움말 상자"/>
          <p:cNvSpPr/>
          <p:nvPr/>
        </p:nvSpPr>
        <p:spPr>
          <a:xfrm>
            <a:off x="5029200" y="5623560"/>
            <a:ext cx="6629400" cy="685800"/>
          </a:xfrm>
          <a:prstGeom prst="roundRect">
            <a:avLst>
              <a:gd name="adj" fmla="val 160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32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5806440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623560" y="5751576"/>
            <a:ext cx="5852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재미나이 로그인이 필요해요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설정 → AI(재미나이)에서 로그인 상태를 확인하세요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4 · 듣기 · 쇼츠 모드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듣기 모드: 화면 없이 소리만</a:t>
            </a:r>
            <a:endParaRPr lang="ko-KR" altLang="en-US" sz="3000" dirty="0"/>
          </a:p>
        </p:txBody>
      </p:sp>
      <p:sp>
        <p:nvSpPr>
          <p:cNvPr id="4" name="듣기 창 크게 판"/>
          <p:cNvSpPr/>
          <p:nvPr/>
        </p:nvSpPr>
        <p:spPr>
          <a:xfrm>
            <a:off x="479539" y="1298448"/>
            <a:ext cx="3521482" cy="5084064"/>
          </a:xfrm>
          <a:prstGeom prst="roundRect">
            <a:avLst>
              <a:gd name="adj" fmla="val 3635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듣기 창 크게" descr="듣기 창 크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91" y="1371600"/>
            <a:ext cx="3375178" cy="4937760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623818" y="166539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3818" y="16653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1873883" y="484134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873883" y="48413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1647309" y="529839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647309" y="52983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표시 4"/>
          <p:cNvSpPr/>
          <p:nvPr/>
        </p:nvSpPr>
        <p:spPr>
          <a:xfrm>
            <a:off x="2522355" y="529839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522355" y="52983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4" name="듣기 창 작게 판"/>
          <p:cNvSpPr/>
          <p:nvPr/>
        </p:nvSpPr>
        <p:spPr>
          <a:xfrm>
            <a:off x="4270248" y="1303477"/>
            <a:ext cx="3438144" cy="1965046"/>
          </a:xfrm>
          <a:prstGeom prst="roundRect">
            <a:avLst>
              <a:gd name="adj" fmla="val 6515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듣기 창 작게" descr="듣기 창 작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6629"/>
            <a:ext cx="3291840" cy="1818742"/>
          </a:xfrm>
          <a:prstGeom prst="rect">
            <a:avLst/>
          </a:prstGeom>
        </p:spPr>
      </p:pic>
      <p:sp>
        <p:nvSpPr>
          <p:cNvPr id="16" name="표시 5"/>
          <p:cNvSpPr/>
          <p:nvPr/>
        </p:nvSpPr>
        <p:spPr>
          <a:xfrm>
            <a:off x="7241134" y="214289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241134" y="214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8" name="설명 번호 1"/>
          <p:cNvSpPr/>
          <p:nvPr/>
        </p:nvSpPr>
        <p:spPr>
          <a:xfrm>
            <a:off x="4343400" y="35387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4340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754880" y="34838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작게 / 크게 보기</a:t>
            </a:r>
            <a:endParaRPr lang="ko-KR" altLang="en-US" sz="13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큰 화면은 썸네일과 다음 재생 목록까지</a:t>
            </a:r>
            <a:endParaRPr lang="ko-KR" altLang="en-US" sz="1300" dirty="0"/>
          </a:p>
        </p:txBody>
      </p:sp>
      <p:sp>
        <p:nvSpPr>
          <p:cNvPr id="21" name="설명 번호 2"/>
          <p:cNvSpPr/>
          <p:nvPr/>
        </p:nvSpPr>
        <p:spPr>
          <a:xfrm>
            <a:off x="4343400" y="40873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34340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754880" y="40325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재생 조작</a:t>
            </a:r>
            <a:endParaRPr lang="ko-KR" altLang="en-US" sz="13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15초 뒤로 · 재생/멈춤 · 15초 앞으로 · 다음</a:t>
            </a:r>
            <a:endParaRPr lang="ko-KR" altLang="en-US" sz="1300" dirty="0"/>
          </a:p>
        </p:txBody>
      </p:sp>
      <p:sp>
        <p:nvSpPr>
          <p:cNvPr id="24" name="설명 번호 3"/>
          <p:cNvSpPr/>
          <p:nvPr/>
        </p:nvSpPr>
        <p:spPr>
          <a:xfrm>
            <a:off x="4343400" y="46360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34340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754880" y="45811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속도 · 질문 · 늘 위에</a:t>
            </a:r>
            <a:endParaRPr lang="ko-KR" altLang="en-US" sz="13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1배 단추로 속도, ✦로 질문, 핀으로 다른 창 위에</a:t>
            </a:r>
            <a:endParaRPr lang="ko-KR" altLang="en-US" sz="1300" dirty="0"/>
          </a:p>
        </p:txBody>
      </p:sp>
      <p:sp>
        <p:nvSpPr>
          <p:cNvPr id="27" name="설명 번호 4"/>
          <p:cNvSpPr/>
          <p:nvPr/>
        </p:nvSpPr>
        <p:spPr>
          <a:xfrm>
            <a:off x="4343400" y="51846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343400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4754880" y="51297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영상으로 보기</a:t>
            </a:r>
            <a:endParaRPr lang="ko-KR" altLang="en-US" sz="13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같은 위치에서 다시 재생 창으로</a:t>
            </a:r>
            <a:endParaRPr lang="ko-KR" altLang="en-US" sz="1300" dirty="0"/>
          </a:p>
        </p:txBody>
      </p:sp>
      <p:sp>
        <p:nvSpPr>
          <p:cNvPr id="30" name="설명 번호 5"/>
          <p:cNvSpPr/>
          <p:nvPr/>
        </p:nvSpPr>
        <p:spPr>
          <a:xfrm>
            <a:off x="4343400" y="573328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343400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4754880" y="56784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작은 창 크게</a:t>
            </a:r>
            <a:endParaRPr lang="ko-KR" altLang="en-US" sz="13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↗ 단추로 큰 화면 · ⌄ 로 창만 숨기고 계속 듣기</a:t>
            </a:r>
            <a:endParaRPr lang="ko-KR" alt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켜는 방법 3가지</a:t>
            </a:r>
            <a:endParaRPr lang="ko-KR" alt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8321040" y="182880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위쪽 🎧 단추를 켜고 영상 누르기</a:t>
            </a:r>
            <a:endParaRPr lang="ko-KR" alt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재생 창의 🎧 단추 (보던 곳부터)</a:t>
            </a:r>
            <a:endParaRPr lang="ko-KR" alt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카드 오른쪽 클릭 → 소리만 듣기</a:t>
            </a:r>
            <a:endParaRPr lang="ko-KR" altLang="en-US" sz="1400" dirty="0"/>
          </a:p>
          <a:p>
            <a:pPr eaLnBrk="0"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단축키 ⌘⇧L</a:t>
            </a:r>
            <a:endParaRPr lang="ko-KR" altLang="en-US" sz="1400" dirty="0"/>
          </a:p>
        </p:txBody>
      </p:sp>
      <p:sp>
        <p:nvSpPr>
          <p:cNvPr id="35" name="도움말 상자"/>
          <p:cNvSpPr/>
          <p:nvPr/>
        </p:nvSpPr>
        <p:spPr>
          <a:xfrm>
            <a:off x="8321040" y="388620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36" name="도움말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069080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915400" y="4014216"/>
            <a:ext cx="2560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회사에서 일하며 듣기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영상은 받지 않아 데이터·배터리를 아껴요. 메뉴 막대 아이콘으로도 조작하고, 이어폰을 빼면 저절로 멈춰요. 듣는 중엔 Dock 아이콘에 🎧가 붙어요.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4 · 듣기 · 쇼츠 모드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쇼츠 모드: 쇼츠만 세로로 넘겨 보기</a:t>
            </a:r>
            <a:endParaRPr lang="ko-KR" altLang="en-US" sz="3000" dirty="0"/>
          </a:p>
        </p:txBody>
      </p:sp>
      <p:sp>
        <p:nvSpPr>
          <p:cNvPr id="4" name="쇼츠 목록 판"/>
          <p:cNvSpPr/>
          <p:nvPr/>
        </p:nvSpPr>
        <p:spPr>
          <a:xfrm>
            <a:off x="580228" y="1344168"/>
            <a:ext cx="6520503" cy="3438144"/>
          </a:xfrm>
          <a:prstGeom prst="roundRect">
            <a:avLst>
              <a:gd name="adj" fmla="val 3723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쇼츠 목록" descr="쇼츠 목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380" y="1417320"/>
            <a:ext cx="6374199" cy="3291840"/>
          </a:xfrm>
          <a:prstGeom prst="rect">
            <a:avLst/>
          </a:prstGeom>
        </p:spPr>
      </p:pic>
      <p:sp>
        <p:nvSpPr>
          <p:cNvPr id="6" name="쇼츠 재생 창 판"/>
          <p:cNvSpPr/>
          <p:nvPr/>
        </p:nvSpPr>
        <p:spPr>
          <a:xfrm>
            <a:off x="7582133" y="1298448"/>
            <a:ext cx="4038135" cy="5084064"/>
          </a:xfrm>
          <a:prstGeom prst="roundRect">
            <a:avLst>
              <a:gd name="adj" fmla="val 3170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쇼츠 재생 창" descr="쇼츠 재생 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285" y="1371600"/>
            <a:ext cx="3891831" cy="4937760"/>
          </a:xfrm>
          <a:prstGeom prst="rect">
            <a:avLst/>
          </a:prstGeom>
        </p:spPr>
      </p:pic>
      <p:sp>
        <p:nvSpPr>
          <p:cNvPr id="8" name="표시 3"/>
          <p:cNvSpPr/>
          <p:nvPr/>
        </p:nvSpPr>
        <p:spPr>
          <a:xfrm>
            <a:off x="11178833" y="377016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1178833" y="37701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0" name="표시 4"/>
          <p:cNvSpPr/>
          <p:nvPr/>
        </p:nvSpPr>
        <p:spPr>
          <a:xfrm>
            <a:off x="9445752" y="141682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445752" y="14168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2" name="표시 1"/>
          <p:cNvSpPr/>
          <p:nvPr/>
        </p:nvSpPr>
        <p:spPr>
          <a:xfrm>
            <a:off x="5734951" y="177061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734951" y="1770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14" name="표시 2"/>
          <p:cNvSpPr/>
          <p:nvPr/>
        </p:nvSpPr>
        <p:spPr>
          <a:xfrm>
            <a:off x="1395707" y="30574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1395707" y="30574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6" name="설명 번호 1"/>
          <p:cNvSpPr/>
          <p:nvPr/>
        </p:nvSpPr>
        <p:spPr>
          <a:xfrm>
            <a:off x="548640" y="4956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490118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쇼츠 모드 켜기·끄기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위쪽 쇼츠 단추 또는 ⌘⇧K</a:t>
            </a:r>
            <a:endParaRPr lang="ko-KR" altLang="en-US" sz="1400" dirty="0"/>
          </a:p>
        </p:txBody>
      </p:sp>
      <p:sp>
        <p:nvSpPr>
          <p:cNvPr id="19" name="설명 번호 2"/>
          <p:cNvSpPr/>
          <p:nvPr/>
        </p:nvSpPr>
        <p:spPr>
          <a:xfrm>
            <a:off x="548640" y="56692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5669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561441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세로 카드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누르면 세로 창(9:16)에서 재생</a:t>
            </a:r>
            <a:endParaRPr lang="ko-KR" altLang="en-US" sz="1400" dirty="0"/>
          </a:p>
        </p:txBody>
      </p:sp>
      <p:sp>
        <p:nvSpPr>
          <p:cNvPr id="22" name="설명 번호 3"/>
          <p:cNvSpPr/>
          <p:nvPr/>
        </p:nvSpPr>
        <p:spPr>
          <a:xfrm>
            <a:off x="3931920" y="4956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93192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343400" y="490118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다음 · 이전 쇼츠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↓↑ 키, 스크롤, ▲▼ 단추</a:t>
            </a:r>
            <a:endParaRPr lang="ko-KR" altLang="en-US" sz="1400" dirty="0"/>
          </a:p>
        </p:txBody>
      </p:sp>
      <p:sp>
        <p:nvSpPr>
          <p:cNvPr id="25" name="설명 번호 4"/>
          <p:cNvSpPr/>
          <p:nvPr/>
        </p:nvSpPr>
        <p:spPr>
          <a:xfrm>
            <a:off x="3931920" y="566928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931920" y="5669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343400" y="561441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위쪽 막대</a:t>
            </a:r>
            <a:endParaRPr lang="ko-KR" altLang="en-US" sz="14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4B5563"/>
                </a:solidFill>
              </a:rPr>
              <a:t>좋아요·댓글·질문하기 그대로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5 · 대기열 · 재생목록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여러 영상을 차례로 이어 보기</a:t>
            </a:r>
            <a:endParaRPr lang="ko-KR" altLang="en-US" sz="3000" dirty="0"/>
          </a:p>
        </p:txBody>
      </p:sp>
      <p:sp>
        <p:nvSpPr>
          <p:cNvPr id="4" name="재생목록 연 화면 판"/>
          <p:cNvSpPr/>
          <p:nvPr/>
        </p:nvSpPr>
        <p:spPr>
          <a:xfrm>
            <a:off x="475488" y="1350929"/>
            <a:ext cx="5632704" cy="2464501"/>
          </a:xfrm>
          <a:prstGeom prst="roundRect">
            <a:avLst>
              <a:gd name="adj" fmla="val 5194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재생목록 연 화면" descr="재생목록 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4081"/>
            <a:ext cx="5486400" cy="2318197"/>
          </a:xfrm>
          <a:prstGeom prst="rect">
            <a:avLst/>
          </a:prstGeom>
        </p:spPr>
      </p:pic>
      <p:sp>
        <p:nvSpPr>
          <p:cNvPr id="6" name="표시 1"/>
          <p:cNvSpPr/>
          <p:nvPr/>
        </p:nvSpPr>
        <p:spPr>
          <a:xfrm>
            <a:off x="4571098" y="20516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571098" y="20516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1</a:t>
            </a:r>
            <a:endParaRPr lang="ko-KR" altLang="en-US" sz="1300" dirty="0"/>
          </a:p>
        </p:txBody>
      </p:sp>
      <p:sp>
        <p:nvSpPr>
          <p:cNvPr id="8" name="표시 2"/>
          <p:cNvSpPr/>
          <p:nvPr/>
        </p:nvSpPr>
        <p:spPr>
          <a:xfrm>
            <a:off x="4983222" y="20516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983222" y="20516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2</a:t>
            </a:r>
            <a:endParaRPr lang="ko-KR" altLang="en-US" sz="1300" dirty="0"/>
          </a:p>
        </p:txBody>
      </p:sp>
      <p:sp>
        <p:nvSpPr>
          <p:cNvPr id="10" name="표시 3"/>
          <p:cNvSpPr/>
          <p:nvPr/>
        </p:nvSpPr>
        <p:spPr>
          <a:xfrm>
            <a:off x="5498377" y="20516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98377" y="20516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3</a:t>
            </a:r>
            <a:endParaRPr lang="ko-KR" altLang="en-US" sz="1300" dirty="0"/>
          </a:p>
        </p:txBody>
      </p:sp>
      <p:sp>
        <p:nvSpPr>
          <p:cNvPr id="12" name="재생 대기열 화면 판"/>
          <p:cNvSpPr/>
          <p:nvPr/>
        </p:nvSpPr>
        <p:spPr>
          <a:xfrm>
            <a:off x="988877" y="3950208"/>
            <a:ext cx="4605927" cy="2386584"/>
          </a:xfrm>
          <a:prstGeom prst="roundRect">
            <a:avLst>
              <a:gd name="adj" fmla="val 5364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재생 대기열 화면" descr="재생 대기열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29" y="4023360"/>
            <a:ext cx="4459623" cy="2240280"/>
          </a:xfrm>
          <a:prstGeom prst="rect">
            <a:avLst/>
          </a:prstGeom>
        </p:spPr>
      </p:pic>
      <p:sp>
        <p:nvSpPr>
          <p:cNvPr id="14" name="표시 4"/>
          <p:cNvSpPr/>
          <p:nvPr/>
        </p:nvSpPr>
        <p:spPr>
          <a:xfrm>
            <a:off x="4771587" y="401656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771587" y="40165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4</a:t>
            </a:r>
            <a:endParaRPr lang="ko-KR" altLang="en-US" sz="1300" dirty="0"/>
          </a:p>
        </p:txBody>
      </p:sp>
      <p:sp>
        <p:nvSpPr>
          <p:cNvPr id="16" name="표시 5"/>
          <p:cNvSpPr/>
          <p:nvPr/>
        </p:nvSpPr>
        <p:spPr>
          <a:xfrm>
            <a:off x="5158925" y="435993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158925" y="43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5</a:t>
            </a:r>
            <a:endParaRPr lang="ko-KR" altLang="en-US" sz="1300" dirty="0"/>
          </a:p>
        </p:txBody>
      </p:sp>
      <p:sp>
        <p:nvSpPr>
          <p:cNvPr id="18" name="설명 번호 1"/>
          <p:cNvSpPr/>
          <p:nvPr/>
        </p:nvSpPr>
        <p:spPr>
          <a:xfrm>
            <a:off x="6446520" y="1481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4652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142646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모두 재생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재생목록·채널의 영상을 처음부터 차례로</a:t>
            </a:r>
            <a:endParaRPr lang="ko-KR" altLang="en-US" sz="1500" dirty="0"/>
          </a:p>
        </p:txBody>
      </p:sp>
      <p:sp>
        <p:nvSpPr>
          <p:cNvPr id="21" name="설명 번호 2"/>
          <p:cNvSpPr/>
          <p:nvPr/>
        </p:nvSpPr>
        <p:spPr>
          <a:xfrm>
            <a:off x="6446520" y="223113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217627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모두 듣기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같은 순서로 소리만 (듣기 모드)</a:t>
            </a:r>
            <a:endParaRPr lang="ko-KR" altLang="en-US" sz="1500" dirty="0"/>
          </a:p>
        </p:txBody>
      </p:sp>
      <p:sp>
        <p:nvSpPr>
          <p:cNvPr id="24" name="설명 번호 3"/>
          <p:cNvSpPr/>
          <p:nvPr/>
        </p:nvSpPr>
        <p:spPr>
          <a:xfrm>
            <a:off x="6446520" y="298094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46520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292608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대기열에 추가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전부 재생 대기열 맨 뒤에 넣기</a:t>
            </a:r>
            <a:endParaRPr lang="ko-KR" altLang="en-US" sz="1500" dirty="0"/>
          </a:p>
        </p:txBody>
      </p:sp>
      <p:sp>
        <p:nvSpPr>
          <p:cNvPr id="27" name="설명 번호 4"/>
          <p:cNvSpPr/>
          <p:nvPr/>
        </p:nvSpPr>
        <p:spPr>
          <a:xfrm>
            <a:off x="6446520" y="37307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0" y="36758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끝나면 다음 영상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켜 두면 한 영상이 끝나면 다음을 자동 재생</a:t>
            </a:r>
            <a:endParaRPr lang="ko-KR" altLang="en-US" sz="1500" dirty="0"/>
          </a:p>
        </p:txBody>
      </p:sp>
      <p:sp>
        <p:nvSpPr>
          <p:cNvPr id="30" name="설명 번호 5"/>
          <p:cNvSpPr/>
          <p:nvPr/>
        </p:nvSpPr>
        <p:spPr>
          <a:xfrm>
            <a:off x="6446520" y="448056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4652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858000" y="4425696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대기열 줄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▶ 지금 재생 · × 빼기 · 끌어서 순서 바꾸기</a:t>
            </a:r>
            <a:endParaRPr lang="ko-KR" altLang="en-US" sz="1500" dirty="0"/>
          </a:p>
        </p:txBody>
      </p:sp>
      <p:sp>
        <p:nvSpPr>
          <p:cNvPr id="33" name="도움말 상자"/>
          <p:cNvSpPr/>
          <p:nvPr/>
        </p:nvSpPr>
        <p:spPr>
          <a:xfrm>
            <a:off x="6446520" y="534924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34" name="도움말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532120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040880" y="547725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카드 오른쪽 클릭으로 한 개씩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'다음에 재생'은 맨 앞에, '대기열에 추가'는 맨 뒤에 넣어요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6 · 설정과 문제 해결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설정 ① 계정 · 색상 테마 · 화면 모드</a:t>
            </a:r>
            <a:endParaRPr lang="ko-KR" altLang="en-US" sz="3000" dirty="0"/>
          </a:p>
        </p:txBody>
      </p:sp>
      <p:sp>
        <p:nvSpPr>
          <p:cNvPr id="4" name="설정 ① 계정 · 색상 테마 · 화면 모드 판"/>
          <p:cNvSpPr/>
          <p:nvPr/>
        </p:nvSpPr>
        <p:spPr>
          <a:xfrm>
            <a:off x="493776" y="1298448"/>
            <a:ext cx="4864608" cy="5084064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설정 ① 계정 · 색상 테마 · 화면 모드" descr="설정 ① 계정 · 색상 테마 · 화면 모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718304" cy="4937760"/>
          </a:xfrm>
          <a:prstGeom prst="rect">
            <a:avLst/>
          </a:prstGeom>
        </p:spPr>
      </p:pic>
      <p:sp>
        <p:nvSpPr>
          <p:cNvPr id="6" name="설명 번호 1"/>
          <p:cNvSpPr/>
          <p:nvPr/>
        </p:nvSpPr>
        <p:spPr>
          <a:xfrm>
            <a:off x="5760720" y="1527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47218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유튜브 계정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로그인·로그아웃·다른 계정으로. 필요한 도구가 다 있는지도 보여요</a:t>
            </a:r>
            <a:endParaRPr lang="ko-KR" altLang="en-US" sz="1500" dirty="0"/>
          </a:p>
        </p:txBody>
      </p:sp>
      <p:sp>
        <p:nvSpPr>
          <p:cNvPr id="9" name="설명 번호 2"/>
          <p:cNvSpPr/>
          <p:nvPr/>
        </p:nvSpPr>
        <p:spPr>
          <a:xfrm>
            <a:off x="5760720" y="2624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56946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색상 테마 7가지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단색 5가지 + 그라데이션 2가지. 누르면 바로 바뀌어요</a:t>
            </a:r>
            <a:endParaRPr lang="ko-KR" altLang="en-US" sz="1500" dirty="0"/>
          </a:p>
        </p:txBody>
      </p:sp>
      <p:sp>
        <p:nvSpPr>
          <p:cNvPr id="12" name="설명 번호 3"/>
          <p:cNvSpPr/>
          <p:nvPr/>
        </p:nvSpPr>
        <p:spPr>
          <a:xfrm>
            <a:off x="5760720" y="37216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66674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화면 모드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시스템 따라 · 밝게 · 어둡게</a:t>
            </a:r>
            <a:endParaRPr lang="ko-KR" altLang="en-US" sz="1500" dirty="0"/>
          </a:p>
        </p:txBody>
      </p:sp>
      <p:sp>
        <p:nvSpPr>
          <p:cNvPr id="15" name="도움말 상자"/>
          <p:cNvSpPr/>
          <p:nvPr/>
        </p:nvSpPr>
        <p:spPr>
          <a:xfrm>
            <a:off x="5760720" y="5074920"/>
            <a:ext cx="5897880" cy="1188720"/>
          </a:xfrm>
          <a:prstGeom prst="roundRect">
            <a:avLst>
              <a:gd name="adj" fmla="val 9231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16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2578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355080" y="5202936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알아 두기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설정 맨 위의 목차 단추를 누르면 그 구역으로 바로 이동해요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6 · 설정과 문제 해결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설정 ② 재미나이(AI) · 시청 통계</a:t>
            </a:r>
            <a:endParaRPr lang="ko-KR" altLang="en-US" sz="3000" dirty="0"/>
          </a:p>
        </p:txBody>
      </p:sp>
      <p:sp>
        <p:nvSpPr>
          <p:cNvPr id="4" name="설정 ② 재미나이(AI) · 시청 통계 판"/>
          <p:cNvSpPr/>
          <p:nvPr/>
        </p:nvSpPr>
        <p:spPr>
          <a:xfrm>
            <a:off x="493776" y="1298448"/>
            <a:ext cx="4864608" cy="5084064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설정 ② 재미나이(AI) · 시청 통계" descr="설정 ② 재미나이(AI) · 시청 통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718304" cy="4937760"/>
          </a:xfrm>
          <a:prstGeom prst="rect">
            <a:avLst/>
          </a:prstGeom>
        </p:spPr>
      </p:pic>
      <p:sp>
        <p:nvSpPr>
          <p:cNvPr id="6" name="설명 번호 1"/>
          <p:cNvSpPr/>
          <p:nvPr/>
        </p:nvSpPr>
        <p:spPr>
          <a:xfrm>
            <a:off x="5760720" y="1527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47218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AI (재미나이)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AI 검색·요약·질문하기용 로그인. 유튜브와 다른 구글 계정을 써도 돼요</a:t>
            </a:r>
            <a:endParaRPr lang="ko-KR" altLang="en-US" sz="1500" dirty="0"/>
          </a:p>
        </p:txBody>
      </p:sp>
      <p:sp>
        <p:nvSpPr>
          <p:cNvPr id="9" name="설명 번호 2"/>
          <p:cNvSpPr/>
          <p:nvPr/>
        </p:nvSpPr>
        <p:spPr>
          <a:xfrm>
            <a:off x="5760720" y="2624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56946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다른 계정으로 바꾸기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지금 계정은 백업해 두고 새로 로그인. '이전 계정으로 되돌리기'도 돼요</a:t>
            </a:r>
            <a:endParaRPr lang="ko-KR" altLang="en-US" sz="1500" dirty="0"/>
          </a:p>
        </p:txBody>
      </p:sp>
      <p:sp>
        <p:nvSpPr>
          <p:cNvPr id="12" name="설명 번호 3"/>
          <p:cNvSpPr/>
          <p:nvPr/>
        </p:nvSpPr>
        <p:spPr>
          <a:xfrm>
            <a:off x="5760720" y="37216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66674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시청 통계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오늘·최근 7일 본 시간, 많이 본 채널</a:t>
            </a:r>
            <a:endParaRPr lang="ko-KR" altLang="en-US" sz="1500" dirty="0"/>
          </a:p>
        </p:txBody>
      </p:sp>
      <p:sp>
        <p:nvSpPr>
          <p:cNvPr id="15" name="도움말 상자"/>
          <p:cNvSpPr/>
          <p:nvPr/>
        </p:nvSpPr>
        <p:spPr>
          <a:xfrm>
            <a:off x="5760720" y="5074920"/>
            <a:ext cx="5897880" cy="1188720"/>
          </a:xfrm>
          <a:prstGeom prst="roundRect">
            <a:avLst>
              <a:gd name="adj" fmla="val 9231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16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2578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355080" y="5202936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알아 두기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재미나이 로그인은 터미널 창이 열리고 브라우저에서 진행돼요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6 · 설정과 문제 해결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설정 ③ 듣기·재생 · 광고 건너뛰기 · 목록 정리</a:t>
            </a:r>
            <a:endParaRPr lang="ko-KR" altLang="en-US" sz="3000" dirty="0"/>
          </a:p>
        </p:txBody>
      </p:sp>
      <p:sp>
        <p:nvSpPr>
          <p:cNvPr id="4" name="설정 ③ 듣기·재생 · 광고 건너뛰기 · 목록 정리 판"/>
          <p:cNvSpPr/>
          <p:nvPr/>
        </p:nvSpPr>
        <p:spPr>
          <a:xfrm>
            <a:off x="493776" y="1298448"/>
            <a:ext cx="4864608" cy="5084064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설정 ③ 듣기·재생 · 광고 건너뛰기 · 목록 정리" descr="설정 ③ 듣기·재생 · 광고 건너뛰기 · 목록 정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718304" cy="4937760"/>
          </a:xfrm>
          <a:prstGeom prst="rect">
            <a:avLst/>
          </a:prstGeom>
        </p:spPr>
      </p:pic>
      <p:sp>
        <p:nvSpPr>
          <p:cNvPr id="6" name="설명 번호 1"/>
          <p:cNvSpPr/>
          <p:nvPr/>
        </p:nvSpPr>
        <p:spPr>
          <a:xfrm>
            <a:off x="5760720" y="1527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47218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듣기·재생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듣기 모드, 끝나면 다음 영상, 이어폰 빼면 멈추기</a:t>
            </a:r>
            <a:endParaRPr lang="ko-KR" altLang="en-US" sz="1500" dirty="0"/>
          </a:p>
        </p:txBody>
      </p:sp>
      <p:sp>
        <p:nvSpPr>
          <p:cNvPr id="9" name="설명 번호 2"/>
          <p:cNvSpPr/>
          <p:nvPr/>
        </p:nvSpPr>
        <p:spPr>
          <a:xfrm>
            <a:off x="5760720" y="2624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56946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광고·인트로 건너뛰기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협찬 광고·자기 홍보·'구독 좋아요' 부탁을 자동으로 건너뛰어요</a:t>
            </a:r>
            <a:endParaRPr lang="ko-KR" altLang="en-US" sz="1500" dirty="0"/>
          </a:p>
        </p:txBody>
      </p:sp>
      <p:sp>
        <p:nvSpPr>
          <p:cNvPr id="12" name="설명 번호 3"/>
          <p:cNvSpPr/>
          <p:nvPr/>
        </p:nvSpPr>
        <p:spPr>
          <a:xfrm>
            <a:off x="5760720" y="37216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66674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목록 정리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쇼츠·본 영상 숨기기, 채널·낱말 숨기기 (아래로 내리면 있어요)</a:t>
            </a:r>
            <a:endParaRPr lang="ko-KR" altLang="en-US" sz="1500" dirty="0"/>
          </a:p>
        </p:txBody>
      </p:sp>
      <p:sp>
        <p:nvSpPr>
          <p:cNvPr id="15" name="도움말 상자"/>
          <p:cNvSpPr/>
          <p:nvPr/>
        </p:nvSpPr>
        <p:spPr>
          <a:xfrm>
            <a:off x="5760720" y="5074920"/>
            <a:ext cx="5897880" cy="1188720"/>
          </a:xfrm>
          <a:prstGeom prst="roundRect">
            <a:avLst>
              <a:gd name="adj" fmla="val 9231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16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2578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355080" y="5202936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알아 두기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쇼츠 숨기기는 기본으로 켜져 있어요. 쇼츠는 쇼츠 모드에서 봐요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6 · 설정과 문제 해결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설정 ④ 알림 · 자동 받기 · 다운로드 · 버그 리포트</a:t>
            </a:r>
            <a:endParaRPr lang="ko-KR" altLang="en-US" sz="3000" dirty="0"/>
          </a:p>
        </p:txBody>
      </p:sp>
      <p:sp>
        <p:nvSpPr>
          <p:cNvPr id="4" name="설정 ④ 알림 · 자동 받기 · 다운로드 · 버그 리포트 판"/>
          <p:cNvSpPr/>
          <p:nvPr/>
        </p:nvSpPr>
        <p:spPr>
          <a:xfrm>
            <a:off x="493776" y="1298448"/>
            <a:ext cx="4864608" cy="5084064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설정 ④ 알림 · 자동 받기 · 다운로드 · 버그 리포트" descr="설정 ④ 알림 · 자동 받기 · 다운로드 · 버그 리포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718304" cy="4937760"/>
          </a:xfrm>
          <a:prstGeom prst="rect">
            <a:avLst/>
          </a:prstGeom>
        </p:spPr>
      </p:pic>
      <p:sp>
        <p:nvSpPr>
          <p:cNvPr id="6" name="설명 번호 1"/>
          <p:cNvSpPr/>
          <p:nvPr/>
        </p:nvSpPr>
        <p:spPr>
          <a:xfrm>
            <a:off x="5760720" y="15270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47218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알림 · 자동 받기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구독 새 영상 알림, '나중에 볼 동영상' 자동 받기와 오래된 파일 정리</a:t>
            </a:r>
            <a:endParaRPr lang="ko-KR" altLang="en-US" sz="1500" dirty="0"/>
          </a:p>
        </p:txBody>
      </p:sp>
      <p:sp>
        <p:nvSpPr>
          <p:cNvPr id="9" name="설명 번호 2"/>
          <p:cNvSpPr/>
          <p:nvPr/>
        </p:nvSpPr>
        <p:spPr>
          <a:xfrm>
            <a:off x="5760720" y="26243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56946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영상 다운로드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저장 폴더 바꾸기. 받기는 재생 창 ⋯ → 다운로드 또는 카드 오른쪽 클릭</a:t>
            </a:r>
            <a:endParaRPr lang="ko-KR" altLang="en-US" sz="1500" dirty="0"/>
          </a:p>
        </p:txBody>
      </p:sp>
      <p:sp>
        <p:nvSpPr>
          <p:cNvPr id="12" name="설명 번호 3"/>
          <p:cNvSpPr/>
          <p:nvPr/>
        </p:nvSpPr>
        <p:spPr>
          <a:xfrm>
            <a:off x="5760720" y="372160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66674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버그 리포트</a:t>
            </a:r>
            <a:endParaRPr lang="ko-KR" altLang="en-US" sz="1500" dirty="0"/>
          </a:p>
          <a:p>
            <a:pPr eaLnBrk="0" indent="0" marL="0">
              <a:spcAft>
                <a:spcPts val="2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문제를 적어 두면 시각·버전·앱 기록과 함께 저장돼요</a:t>
            </a:r>
            <a:endParaRPr lang="ko-KR" altLang="en-US" sz="1500" dirty="0"/>
          </a:p>
        </p:txBody>
      </p:sp>
      <p:sp>
        <p:nvSpPr>
          <p:cNvPr id="15" name="도움말 상자"/>
          <p:cNvSpPr/>
          <p:nvPr/>
        </p:nvSpPr>
        <p:spPr>
          <a:xfrm>
            <a:off x="5760720" y="5074920"/>
            <a:ext cx="5897880" cy="1188720"/>
          </a:xfrm>
          <a:prstGeom prst="roundRect">
            <a:avLst>
              <a:gd name="adj" fmla="val 9231"/>
            </a:avLst>
          </a:prstGeom>
          <a:solidFill>
            <a:srgbClr val="FFF1E6"/>
          </a:solidFill>
          <a:ln w="9525">
            <a:solidFill>
              <a:srgbClr val="FFD9BF"/>
            </a:solidFill>
            <a:prstDash val="solid"/>
          </a:ln>
        </p:spPr>
      </p:sp>
      <p:pic>
        <p:nvPicPr>
          <p:cNvPr id="16" name="도움말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2578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355080" y="5202936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알아 두기</a:t>
            </a:r>
            <a:endParaRPr lang="ko-KR" altLang="en-US" sz="1400" dirty="0"/>
          </a:p>
          <a:p>
            <a:pPr eaLnBrk="0" indent="0" marL="0">
              <a:spcAft>
                <a:spcPts val="3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알림이 안 오면 맥 시스템 설정 → 알림에서 MyTube를 허용하세요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6 · 설정과 문제 해결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이럴 땐 이렇게 하세요</a:t>
            </a:r>
            <a:endParaRPr lang="ko-KR" altLang="en-US" sz="3000" dirty="0"/>
          </a:p>
        </p:txBody>
      </p:sp>
      <p:sp>
        <p:nvSpPr>
          <p:cNvPr id="4" name="문제 카드 1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문제 아이콘 바탕 1"/>
          <p:cNvSpPr/>
          <p:nvPr/>
        </p:nvSpPr>
        <p:spPr>
          <a:xfrm>
            <a:off x="804672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문제 아이콘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목록이 비어 있어요</a:t>
            </a:r>
            <a:endParaRPr lang="ko-KR" altLang="en-US" sz="17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사이드바 맨 위 '유튜브 로그인'으로 로그인하세요. 그래도 비면 설정에서 도구 상태를 확인해요</a:t>
            </a:r>
            <a:endParaRPr lang="ko-KR" altLang="en-US" sz="1700" dirty="0"/>
          </a:p>
        </p:txBody>
      </p:sp>
      <p:sp>
        <p:nvSpPr>
          <p:cNvPr id="8" name="문제 카드 2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문제 아이콘 바탕 2"/>
          <p:cNvSpPr/>
          <p:nvPr/>
        </p:nvSpPr>
        <p:spPr>
          <a:xfrm>
            <a:off x="4553712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문제 아이콘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5623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53712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'필요한 도구가 없어요'</a:t>
            </a:r>
            <a:endParaRPr lang="ko-KR" altLang="en-US" sz="17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터미널에서 brew install yt-dlp deno ffmpeg 를 실행하고 앱을 다시 켜요</a:t>
            </a:r>
            <a:endParaRPr lang="ko-KR" altLang="en-US" sz="1700" dirty="0"/>
          </a:p>
        </p:txBody>
      </p:sp>
      <p:sp>
        <p:nvSpPr>
          <p:cNvPr id="12" name="문제 카드 3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문제 아이콘 바탕 3"/>
          <p:cNvSpPr/>
          <p:nvPr/>
        </p:nvSpPr>
        <p:spPr>
          <a:xfrm>
            <a:off x="8302752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문제 아이콘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85623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02752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AI 검색·질문이 안 돼요</a:t>
            </a:r>
            <a:endParaRPr lang="ko-KR" altLang="en-US" sz="17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설정 → AI(재미나이)에서 '로그인됨'인지 확인하고, 아니면 로그인해요</a:t>
            </a:r>
            <a:endParaRPr lang="ko-KR" altLang="en-US" sz="1700" dirty="0"/>
          </a:p>
        </p:txBody>
      </p:sp>
      <p:sp>
        <p:nvSpPr>
          <p:cNvPr id="16" name="문제 카드 4"/>
          <p:cNvSpPr/>
          <p:nvPr/>
        </p:nvSpPr>
        <p:spPr>
          <a:xfrm>
            <a:off x="548640" y="3886200"/>
            <a:ext cx="352044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문제 아이콘 바탕 4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문제 아이콘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27939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4672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처음 재생이 느려요</a:t>
            </a:r>
            <a:endParaRPr lang="ko-KR" altLang="en-US" sz="17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썸네일에 마우스를 잠깐 올려 두면 미리 받아 둬서 누르는 즉시 재생돼요</a:t>
            </a:r>
            <a:endParaRPr lang="ko-KR" altLang="en-US" sz="1700" dirty="0"/>
          </a:p>
        </p:txBody>
      </p:sp>
      <p:sp>
        <p:nvSpPr>
          <p:cNvPr id="20" name="문제 카드 5"/>
          <p:cNvSpPr/>
          <p:nvPr/>
        </p:nvSpPr>
        <p:spPr>
          <a:xfrm>
            <a:off x="4297680" y="3886200"/>
            <a:ext cx="352044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문제 아이콘 바탕 5"/>
          <p:cNvSpPr/>
          <p:nvPr/>
        </p:nvSpPr>
        <p:spPr>
          <a:xfrm>
            <a:off x="4553712" y="41422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문제 아이콘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27939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53712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쇼츠가 안 보여요</a:t>
            </a:r>
            <a:endParaRPr lang="ko-KR" altLang="en-US" sz="17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목록에서는 기본으로 숨겨요. 위쪽 쇼츠 단추로 쇼츠 모드를 켜세요</a:t>
            </a:r>
            <a:endParaRPr lang="ko-KR" altLang="en-US" sz="1700" dirty="0"/>
          </a:p>
        </p:txBody>
      </p:sp>
      <p:sp>
        <p:nvSpPr>
          <p:cNvPr id="24" name="문제 카드 6"/>
          <p:cNvSpPr/>
          <p:nvPr/>
        </p:nvSpPr>
        <p:spPr>
          <a:xfrm>
            <a:off x="8046720" y="3886200"/>
            <a:ext cx="352044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문제 아이콘 바탕 6"/>
          <p:cNvSpPr/>
          <p:nvPr/>
        </p:nvSpPr>
        <p:spPr>
          <a:xfrm>
            <a:off x="8302752" y="41422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문제 아이콘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27939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02752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400"/>
              </a:spcAft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앱이 이상해요</a:t>
            </a:r>
            <a:endParaRPr lang="ko-KR" altLang="en-US" sz="1700" dirty="0"/>
          </a:p>
          <a:p>
            <a:pPr eaLnBrk="0" indent="0" marL="0">
              <a:spcAft>
                <a:spcPts val="400"/>
              </a:spcAft>
              <a:buNone/>
            </a:pPr>
            <a:r>
              <a:rPr lang="ko-KR" altLang="en-US" sz="1300" dirty="0">
                <a:solidFill>
                  <a:srgbClr val="4B5563"/>
                </a:solidFill>
              </a:rPr>
              <a:t>설정 → 버그 리포트에 무슨 일이 있었는지 적어 두세요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꼭 기억할 단축키</a:t>
            </a:r>
            <a:endParaRPr lang="ko-KR" altLang="en-US" sz="3600" dirty="0"/>
          </a:p>
        </p:txBody>
      </p:sp>
      <p:sp>
        <p:nvSpPr>
          <p:cNvPr id="3" name="단축키 카드 1"/>
          <p:cNvSpPr/>
          <p:nvPr/>
        </p:nvSpPr>
        <p:spPr>
          <a:xfrm>
            <a:off x="731520" y="1737360"/>
            <a:ext cx="3383280" cy="1554480"/>
          </a:xfrm>
          <a:prstGeom prst="roundRect">
            <a:avLst>
              <a:gd name="adj" fmla="val 9412"/>
            </a:avLst>
          </a:prstGeom>
          <a:solidFill>
            <a:srgbClr val="2F333B"/>
          </a:solidFill>
          <a:ln w="12700">
            <a:solidFill>
              <a:srgbClr val="3D42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chemeClr val="accent1"/>
                </a:solidFill>
              </a:rPr>
              <a:t>⌘ ⇧ L</a:t>
            </a:r>
            <a:endParaRPr lang="ko-KR" alt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D7DAE0"/>
                </a:solidFill>
              </a:rPr>
              <a:t>듣기 모드</a:t>
            </a:r>
            <a:endParaRPr lang="ko-KR" altLang="en-US" sz="1600" dirty="0"/>
          </a:p>
        </p:txBody>
      </p:sp>
      <p:sp>
        <p:nvSpPr>
          <p:cNvPr id="6" name="단축키 카드 2"/>
          <p:cNvSpPr/>
          <p:nvPr/>
        </p:nvSpPr>
        <p:spPr>
          <a:xfrm>
            <a:off x="4389120" y="1737360"/>
            <a:ext cx="3383280" cy="1554480"/>
          </a:xfrm>
          <a:prstGeom prst="roundRect">
            <a:avLst>
              <a:gd name="adj" fmla="val 9412"/>
            </a:avLst>
          </a:prstGeom>
          <a:solidFill>
            <a:srgbClr val="2F333B"/>
          </a:solidFill>
          <a:ln w="12700">
            <a:solidFill>
              <a:srgbClr val="3D42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chemeClr val="accent1"/>
                </a:solidFill>
              </a:rPr>
              <a:t>⌘ ⇧ K</a:t>
            </a:r>
            <a:endParaRPr lang="ko-KR" alt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D7DAE0"/>
                </a:solidFill>
              </a:rPr>
              <a:t>쇼츠 모드</a:t>
            </a:r>
            <a:endParaRPr lang="ko-KR" altLang="en-US" sz="1600" dirty="0"/>
          </a:p>
        </p:txBody>
      </p:sp>
      <p:sp>
        <p:nvSpPr>
          <p:cNvPr id="9" name="단축키 카드 3"/>
          <p:cNvSpPr/>
          <p:nvPr/>
        </p:nvSpPr>
        <p:spPr>
          <a:xfrm>
            <a:off x="8046720" y="1737360"/>
            <a:ext cx="3383280" cy="1554480"/>
          </a:xfrm>
          <a:prstGeom prst="roundRect">
            <a:avLst>
              <a:gd name="adj" fmla="val 9412"/>
            </a:avLst>
          </a:prstGeom>
          <a:solidFill>
            <a:srgbClr val="2F333B"/>
          </a:solidFill>
          <a:ln w="12700">
            <a:solidFill>
              <a:srgbClr val="3D42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chemeClr val="accent1"/>
                </a:solidFill>
              </a:rPr>
              <a:t>⌘ T</a:t>
            </a:r>
            <a:endParaRPr lang="ko-KR" alt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D7DAE0"/>
                </a:solidFill>
              </a:rPr>
              <a:t>새 탭</a:t>
            </a:r>
            <a:endParaRPr lang="ko-KR" altLang="en-US" sz="1600" dirty="0"/>
          </a:p>
        </p:txBody>
      </p:sp>
      <p:sp>
        <p:nvSpPr>
          <p:cNvPr id="12" name="단축키 카드 4"/>
          <p:cNvSpPr/>
          <p:nvPr/>
        </p:nvSpPr>
        <p:spPr>
          <a:xfrm>
            <a:off x="731520" y="3566160"/>
            <a:ext cx="3383280" cy="1554480"/>
          </a:xfrm>
          <a:prstGeom prst="roundRect">
            <a:avLst>
              <a:gd name="adj" fmla="val 9412"/>
            </a:avLst>
          </a:prstGeom>
          <a:solidFill>
            <a:srgbClr val="2F333B"/>
          </a:solidFill>
          <a:ln w="12700">
            <a:solidFill>
              <a:srgbClr val="3D42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chemeClr val="accent1"/>
                </a:solidFill>
              </a:rPr>
              <a:t>← →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D7DAE0"/>
                </a:solidFill>
              </a:rPr>
              <a:t>15초 이동</a:t>
            </a:r>
            <a:endParaRPr lang="ko-KR" altLang="en-US" sz="1600" dirty="0"/>
          </a:p>
        </p:txBody>
      </p:sp>
      <p:sp>
        <p:nvSpPr>
          <p:cNvPr id="15" name="단축키 카드 5"/>
          <p:cNvSpPr/>
          <p:nvPr/>
        </p:nvSpPr>
        <p:spPr>
          <a:xfrm>
            <a:off x="4389120" y="3566160"/>
            <a:ext cx="3383280" cy="1554480"/>
          </a:xfrm>
          <a:prstGeom prst="roundRect">
            <a:avLst>
              <a:gd name="adj" fmla="val 9412"/>
            </a:avLst>
          </a:prstGeom>
          <a:solidFill>
            <a:srgbClr val="2F333B"/>
          </a:solidFill>
          <a:ln w="12700">
            <a:solidFill>
              <a:srgbClr val="3D42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chemeClr val="accent1"/>
                </a:solidFill>
              </a:rPr>
              <a:t>더블클릭</a:t>
            </a:r>
            <a:endParaRPr lang="ko-KR" alt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D7DAE0"/>
                </a:solidFill>
              </a:rPr>
              <a:t>전체 화면</a:t>
            </a:r>
            <a:endParaRPr lang="ko-KR" altLang="en-US" sz="1600" dirty="0"/>
          </a:p>
        </p:txBody>
      </p:sp>
      <p:sp>
        <p:nvSpPr>
          <p:cNvPr id="18" name="단축키 카드 6"/>
          <p:cNvSpPr/>
          <p:nvPr/>
        </p:nvSpPr>
        <p:spPr>
          <a:xfrm>
            <a:off x="8046720" y="3566160"/>
            <a:ext cx="3383280" cy="1554480"/>
          </a:xfrm>
          <a:prstGeom prst="roundRect">
            <a:avLst>
              <a:gd name="adj" fmla="val 9412"/>
            </a:avLst>
          </a:prstGeom>
          <a:solidFill>
            <a:srgbClr val="2F333B"/>
          </a:solidFill>
          <a:ln w="12700">
            <a:solidFill>
              <a:srgbClr val="3D42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chemeClr val="accent1"/>
                </a:solidFill>
              </a:rPr>
              <a:t>Esc</a:t>
            </a:r>
            <a:endParaRPr lang="ko-KR" alt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D7DAE0"/>
                </a:solidFill>
              </a:rPr>
              <a:t>재생 창 닫기</a:t>
            </a:r>
            <a:endParaRPr lang="ko-KR" alt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즐거운 시청 되세요!</a:t>
            </a:r>
            <a:endParaRPr lang="ko-KR" altLang="en-US" sz="2200" dirty="0"/>
          </a:p>
        </p:txBody>
      </p:sp>
      <p:pic>
        <p:nvPicPr>
          <p:cNvPr id="22" name="앱 아이콘" descr="/private/tmp/claude-501/-Volumes------App-Mac-YouTube/7995ba32-4d36-42c2-bba4-6b9cacc70a97/scratchpad/img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486400"/>
            <a:ext cx="868680" cy="868680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731520" y="2011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endParaRPr lang="ko-KR" altLang="en-US" sz="48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731520" y="36118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endParaRPr lang="ko-KR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Tube Guide">
  <a:themeElements>
    <a:clrScheme name="MyTube Guide">
      <a:dk1>
        <a:srgbClr val="1F2328"/>
      </a:dk1>
      <a:lt1>
        <a:srgbClr val="FFFFFF"/>
      </a:lt1>
      <a:dk2>
        <a:srgbClr val="23262D"/>
      </a:dk2>
      <a:lt2>
        <a:srgbClr val="F3F4F6"/>
      </a:lt2>
      <a:accent1>
        <a:srgbClr val="FF7A1A"/>
      </a:accent1>
      <a:accent2>
        <a:srgbClr val="E2442F"/>
      </a:accent2>
      <a:accent3>
        <a:srgbClr val="2B8C8C"/>
      </a:accent3>
      <a:accent4>
        <a:srgbClr val="8C7BE0"/>
      </a:accent4>
      <a:accent5>
        <a:srgbClr val="F2B705"/>
      </a:accent5>
      <a:accent6>
        <a:srgbClr val="6B7280"/>
      </a:accent6>
      <a:hlink>
        <a:srgbClr val="FF7A1A"/>
      </a:hlink>
      <a:folHlink>
        <a:srgbClr val="B85A12"/>
      </a:folHlink>
    </a:clrScheme>
    <a:fontScheme name="MyTube Guide">
      <a:majorFont>
        <a:latin typeface="Pretendard"/>
        <a:ea typeface="Pretendard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MyTube 사용 가이드</dc:title>
  <dc:subject>PptxGenJS Presentation</dc:subject>
  <dc:creator>MyTube</dc:creator>
  <cp:lastModifiedBy>MyTube</cp:lastModifiedBy>
  <cp:revision>1</cp:revision>
  <dcterms:created xsi:type="dcterms:W3CDTF">2026-10-19T07:24:59Z</dcterms:created>
  <dcterms:modified xsi:type="dcterms:W3CDTF">2026-10-19T07:24:59Z</dcterms:modified>
</cp:coreProperties>
</file>